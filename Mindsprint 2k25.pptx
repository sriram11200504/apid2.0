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1" r:id="rId2"/>
    <p:sldId id="297" r:id="rId3"/>
    <p:sldId id="281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16B35-C22F-493C-A139-990026403C5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8139D-4050-4647-8DEB-051C39A5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02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0768-80F3-B006-379B-2B2D3C276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79CA8-8642-544A-D6FF-B847CA371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B834D-B861-AC4F-74E3-AC7F5FDB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3745D-B19A-A059-34C1-4A8AE449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E823E-3544-662E-6520-B451B1AE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20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5635-2BA5-1F29-4277-585E125A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37EC2-637B-2E44-60CC-ED1C2C3AE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EBEAE-57A2-945E-971A-820532DAC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69C5D-5875-DA93-08D4-25561656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DE0AE-FC7E-1F6F-F672-F4694101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5220-6925-9F91-7A7F-D69A7928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B047-928B-7325-1A5B-4399CA765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F061-464F-8301-C1E8-2AAE301B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3A1A5-76B5-075E-2275-A1E89EA83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765F5-C684-C4B1-6825-267D7639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99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82F0-F3CA-451A-CB24-0588DBC2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CB0C1-5E2F-D637-4F0B-EC1BC4B03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37C64-A079-D594-C806-470D754BB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EEEA0-3519-D94E-3C60-98A378DA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003A0-ED82-2FCB-BF98-F64F23AFE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58AB1-F443-D925-AE70-4B0E96C4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74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18A5-D309-20B9-14C4-C35D677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4ED31-4CEE-F465-68E9-A23418722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CC755-4AE7-FACC-42A6-B61B442C3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4D412-C4B2-5F9F-BDF0-819A6BDF8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79A33-4A62-0D16-F26D-512427190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E6387C-D7F8-0CEA-57F5-C0727A15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5DD0AB-893B-B504-0272-BA1B50073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ADE1C-3403-D730-361D-01AA754B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79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7C17E-314F-8BC4-B98D-3C446453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E5544-DE49-5814-CB4A-57FEBDE3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F5C3F-F25E-7F65-B7FE-7856341FB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2CB34-7093-2EB3-0426-1F497059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46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F4AB81-710A-88AE-D115-A44D086A0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4CE12-64E0-37B8-E658-2CF2F63B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C0A23-B513-601C-325F-AE2D9757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059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25FB-0B7D-084D-C10A-19B721FCC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59E6-7FFF-3882-5064-A197309BA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9D5FF-7AB1-B669-2B2D-7F8570C15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11C63-868A-2D41-691C-57C53C869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1F40B-006A-CEA2-E1B4-020F82EE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9E9ED-181B-18C8-CFB8-13F1F9E90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85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F12D-4786-B861-420B-5629DFB6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36CB60-7BB4-7D24-9ED5-578F268C1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E0C9F-E837-4073-22AE-DA0EAA67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F8B30-8332-B0E6-3007-623E606F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289EE-9125-E41F-D6EF-4B6B9F48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EE40A-975D-A329-6E0C-77338BC1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733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7BA1-5490-7DCB-0989-6A3791A9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2A93B-DEC1-246C-0CB2-91C93851A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2E059-6BF9-58D3-A808-84F0A015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E6C4E-1152-FB6A-687A-17B0924B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D4524-5758-F625-401E-01FBC1C6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94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3018D-575A-D1E8-CAB4-0C6896A9C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7CDDE-4325-8F7F-400E-CED74A724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08FA2-ABB3-4C5B-98E3-2CF971EC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D2D25-D493-3300-49B6-21467910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81BF-DBA9-8FC4-9D25-2DE02AFE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3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AE1C0-7F3F-738E-0B1E-16149882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2FEEB-6917-F45C-E288-E460E1A2F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41BDC-4A4B-D9EE-68A7-046FE03FC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9B911-B8A6-4A0E-A89E-D52B9401BB4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7AF97-8593-7213-8554-9C77C3321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346D1-30F4-CED2-603D-2AD339AA9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C1C51-18D9-4BAE-B5C9-B717A6510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6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5.wdp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microsoft.com/office/2007/relationships/hdphoto" Target="../media/hdphoto6.wdp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4.wdp"/><Relationship Id="rId5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microsoft.com/office/2007/relationships/hdphoto" Target="../media/hdphoto3.wdp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google-bert/bert-base-uncased&#8203;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anva.com/en_in/" TargetMode="External"/><Relationship Id="rId4" Type="http://schemas.openxmlformats.org/officeDocument/2006/relationships/hyperlink" Target="https://www.kaggle.com/datasets/engsaiedali/sentiment-analysis-for-mental-health&#820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 eaLnBrk="1" hangingPunct="1">
              <a:lnSpc>
                <a:spcPct val="90000"/>
              </a:lnSpc>
            </a:pPr>
            <a:r>
              <a:rPr lang="en-US" sz="5000" b="1" dirty="0" err="1">
                <a:latin typeface="+mj-lt"/>
                <a:ea typeface="Calibri"/>
                <a:cs typeface="Calibri"/>
              </a:rPr>
              <a:t>Mindsprint</a:t>
            </a:r>
            <a:r>
              <a:rPr lang="en-US" sz="5000" b="1" dirty="0">
                <a:latin typeface="+mj-lt"/>
                <a:ea typeface="Calibri"/>
                <a:cs typeface="Calibri"/>
              </a:rPr>
              <a:t> 2k25</a:t>
            </a:r>
            <a:endParaRPr lang="en-US" sz="5000" b="1" kern="1200" dirty="0">
              <a:latin typeface="+mj-lt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latin typeface="+mn-lt"/>
              <a:ea typeface="+mn-ea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Problem Statement Title- Development of a Digital Mental Health and Psychological Support System for Students in Higher Education.</a:t>
            </a:r>
            <a:endParaRPr lang="en-US" sz="2000" dirty="0">
              <a:latin typeface="+mn-lt"/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Theme- Other Innovation.</a:t>
            </a:r>
            <a:endParaRPr lang="en-US" sz="2000" dirty="0">
              <a:latin typeface="+mn-lt"/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PS Category- Software</a:t>
            </a:r>
            <a:endParaRPr lang="en-US" sz="2000" dirty="0">
              <a:latin typeface="+mn-lt"/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  <a:ea typeface="+mn-ea"/>
              </a:rPr>
              <a:t>Team Name- </a:t>
            </a:r>
            <a:r>
              <a:rPr lang="en-US" sz="2000" err="1">
                <a:latin typeface="+mn-lt"/>
                <a:ea typeface="+mn-ea"/>
              </a:rPr>
              <a:t>BuildingBots</a:t>
            </a:r>
            <a:endParaRPr lang="en-US" sz="2000" err="1">
              <a:latin typeface="+mn-lt"/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Team Members- Sriram Lohith V</a:t>
            </a:r>
            <a:endParaRPr lang="en-US" sz="2000" dirty="0">
              <a:latin typeface="+mn-lt"/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latin typeface="+mn-lt"/>
                <a:ea typeface="+mn-ea"/>
              </a:rPr>
              <a:t>                                   Hari </a:t>
            </a:r>
            <a:r>
              <a:rPr lang="en-US" sz="2000" err="1">
                <a:latin typeface="+mn-lt"/>
                <a:ea typeface="+mn-ea"/>
              </a:rPr>
              <a:t>kiran</a:t>
            </a:r>
            <a:r>
              <a:rPr lang="en-US" sz="2000">
                <a:latin typeface="+mn-lt"/>
                <a:ea typeface="+mn-ea"/>
              </a:rPr>
              <a:t> J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latin typeface="+mn-lt"/>
                <a:ea typeface="Calibri"/>
                <a:cs typeface="Calibri"/>
              </a:rPr>
              <a:t>                                   Kaif sharif SK</a:t>
            </a:r>
          </a:p>
        </p:txBody>
      </p:sp>
      <p:pic>
        <p:nvPicPr>
          <p:cNvPr id="4" name="Picture 3" descr="A poster of a competition&#10;&#10;AI-generated content may be incorrect.">
            <a:extLst>
              <a:ext uri="{FF2B5EF4-FFF2-40B4-BE49-F238E27FC236}">
                <a16:creationId xmlns:a16="http://schemas.microsoft.com/office/drawing/2014/main" id="{D8D4A7DD-3751-FC0A-F8E4-C62AE6607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261" y="1713379"/>
            <a:ext cx="6334125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1680-1A5F-3170-B950-CD3FA3F4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231E84-F030-39FE-7B81-9A10E0287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 eaLnBrk="1" hangingPunct="1">
              <a:lnSpc>
                <a:spcPct val="90000"/>
              </a:lnSpc>
            </a:pPr>
            <a:r>
              <a:rPr lang="en-US" sz="5000" b="1" dirty="0" err="1">
                <a:latin typeface="+mj-lt"/>
                <a:ea typeface="Calibri"/>
                <a:cs typeface="Calibri"/>
              </a:rPr>
              <a:t>Mindsprint</a:t>
            </a:r>
            <a:r>
              <a:rPr lang="en-US" sz="5000" b="1" dirty="0">
                <a:latin typeface="+mj-lt"/>
                <a:ea typeface="Calibri"/>
                <a:cs typeface="Calibri"/>
              </a:rPr>
              <a:t> 2k25</a:t>
            </a:r>
            <a:endParaRPr lang="en-US" sz="5000" b="1" kern="1200" dirty="0">
              <a:latin typeface="+mj-lt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ACD6A2-A86C-3E86-311A-D6560D3414AB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latin typeface="+mn-lt"/>
              <a:ea typeface="+mn-ea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Problem Statement Title- Development of a Digital Mental Health and Psychological Support System for Students in Higher Education.</a:t>
            </a:r>
            <a:endParaRPr lang="en-US" sz="2000" dirty="0">
              <a:latin typeface="+mn-lt"/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Theme- Other Innovation.</a:t>
            </a:r>
            <a:endParaRPr lang="en-US" sz="2000" dirty="0">
              <a:latin typeface="+mn-lt"/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PS Category- Software</a:t>
            </a:r>
            <a:endParaRPr lang="en-US" sz="2000" dirty="0">
              <a:latin typeface="+mn-lt"/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+mn-lt"/>
                <a:ea typeface="+mn-ea"/>
              </a:rPr>
              <a:t>Team Name- </a:t>
            </a:r>
            <a:r>
              <a:rPr lang="en-US" sz="2000" err="1">
                <a:latin typeface="+mn-lt"/>
                <a:ea typeface="+mn-ea"/>
              </a:rPr>
              <a:t>BuildingBots</a:t>
            </a:r>
            <a:endParaRPr lang="en-US" sz="2000" err="1">
              <a:latin typeface="+mn-lt"/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Team Members- Sriram Lohith V</a:t>
            </a:r>
            <a:endParaRPr lang="en-US" sz="2000" dirty="0">
              <a:latin typeface="+mn-lt"/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latin typeface="+mn-lt"/>
                <a:ea typeface="+mn-ea"/>
              </a:rPr>
              <a:t>                                   Hari </a:t>
            </a:r>
            <a:r>
              <a:rPr lang="en-US" sz="2000" err="1">
                <a:latin typeface="+mn-lt"/>
                <a:ea typeface="+mn-ea"/>
              </a:rPr>
              <a:t>kiran</a:t>
            </a:r>
            <a:r>
              <a:rPr lang="en-US" sz="2000">
                <a:latin typeface="+mn-lt"/>
                <a:ea typeface="+mn-ea"/>
              </a:rPr>
              <a:t> J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latin typeface="+mn-lt"/>
                <a:ea typeface="Calibri"/>
                <a:cs typeface="Calibri"/>
              </a:rPr>
              <a:t>                                   Kaif sharif SK</a:t>
            </a:r>
          </a:p>
        </p:txBody>
      </p:sp>
      <p:pic>
        <p:nvPicPr>
          <p:cNvPr id="4" name="Picture 3" descr="A poster of a competition&#10;&#10;AI-generated content may be incorrect.">
            <a:extLst>
              <a:ext uri="{FF2B5EF4-FFF2-40B4-BE49-F238E27FC236}">
                <a16:creationId xmlns:a16="http://schemas.microsoft.com/office/drawing/2014/main" id="{4BD520F6-3442-7D24-A2AA-F69A10ED6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261" y="1713379"/>
            <a:ext cx="6334125" cy="3543300"/>
          </a:xfrm>
          <a:prstGeom prst="rect">
            <a:avLst/>
          </a:prstGeom>
        </p:spPr>
      </p:pic>
      <p:pic>
        <p:nvPicPr>
          <p:cNvPr id="2" name="Picture 1" descr="Academic Distress' and Student Suicides in India: A Crisis That Needs to be  Acknowledged">
            <a:extLst>
              <a:ext uri="{FF2B5EF4-FFF2-40B4-BE49-F238E27FC236}">
                <a16:creationId xmlns:a16="http://schemas.microsoft.com/office/drawing/2014/main" id="{57555793-DC14-0953-CDD3-4E7A0D57D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81" y="-712"/>
            <a:ext cx="12200962" cy="685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8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6000" b="1" spc="-30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</a:t>
            </a:r>
            <a:r>
              <a:rPr lang="en-US" sz="2000" b="1" spc="-300">
                <a:solidFill>
                  <a:prstClr val="black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. </a:t>
            </a:r>
            <a:r>
              <a:rPr lang="en-US" sz="6000" b="1" spc="-30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</a:t>
            </a:r>
            <a:r>
              <a:rPr lang="en-US" sz="2000" b="1" spc="-300">
                <a:solidFill>
                  <a:prstClr val="black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. </a:t>
            </a:r>
            <a:r>
              <a:rPr lang="en-US" sz="6000" b="1" spc="-30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I</a:t>
            </a:r>
            <a:r>
              <a:rPr lang="en-US" sz="2000" b="1" spc="-300">
                <a:solidFill>
                  <a:prstClr val="black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. </a:t>
            </a:r>
            <a:r>
              <a:rPr lang="en-US" sz="6000" b="1" spc="-30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</a:t>
            </a:r>
            <a:r>
              <a:rPr lang="en-US" sz="2000" b="1" spc="-30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</a:t>
            </a:r>
            <a:endParaRPr lang="en-US" sz="6000" b="1" spc="-30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773" y="1479630"/>
            <a:ext cx="7667751" cy="1708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u="sng">
                <a:solidFill>
                  <a:schemeClr val="tx2">
                    <a:lumMod val="75000"/>
                  </a:schemeClr>
                </a:solidFill>
                <a:latin typeface="+mj-lt"/>
              </a:rPr>
              <a:t>Problem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+mj-lt"/>
              </a:rPr>
              <a:t>: </a:t>
            </a:r>
          </a:p>
          <a:p>
            <a:r>
              <a:rPr lang="en-US" sz="1700"/>
              <a:t>Today, many college students are facing </a:t>
            </a:r>
            <a:r>
              <a:rPr lang="en-US" sz="1700" b="1"/>
              <a:t>serious</a:t>
            </a:r>
            <a:r>
              <a:rPr lang="en-US" sz="1700"/>
              <a:t> issues with mental health like </a:t>
            </a:r>
            <a:r>
              <a:rPr lang="en-US" sz="1700" b="1"/>
              <a:t>anxiety, depression and stress</a:t>
            </a:r>
            <a:r>
              <a:rPr lang="en-US" sz="1700"/>
              <a:t>. However there is a </a:t>
            </a:r>
            <a:r>
              <a:rPr lang="en-US" sz="1700" b="1"/>
              <a:t>lack of mental health services</a:t>
            </a:r>
            <a:r>
              <a:rPr lang="en-US" sz="1700"/>
              <a:t> in the most higher education institutions, especially in rural and semi-urban colleges. The </a:t>
            </a:r>
            <a:r>
              <a:rPr lang="en-US" sz="1700" b="1"/>
              <a:t>stigma</a:t>
            </a:r>
            <a:r>
              <a:rPr lang="en-US" sz="1700"/>
              <a:t> of mental illness acts as a major barrier, which often makes students </a:t>
            </a:r>
            <a:r>
              <a:rPr lang="en-US" sz="1700" b="1"/>
              <a:t>hesitant</a:t>
            </a:r>
            <a:r>
              <a:rPr lang="en-US" sz="1700"/>
              <a:t> to seek support.</a:t>
            </a:r>
            <a:r>
              <a:rPr lang="en-IN" sz="1600" i="1">
                <a:latin typeface="Aptos" panose="020B0004020202020204" pitchFamily="34" charset="0"/>
              </a:rPr>
              <a:t>(</a:t>
            </a:r>
            <a:r>
              <a:rPr lang="en-IN" sz="1600" i="1" err="1">
                <a:latin typeface="Aptos" panose="020B0004020202020204" pitchFamily="34" charset="0"/>
              </a:rPr>
              <a:t>Lattie</a:t>
            </a:r>
            <a:r>
              <a:rPr lang="en-IN" sz="1600" i="1">
                <a:latin typeface="Aptos" panose="020B0004020202020204" pitchFamily="34" charset="0"/>
              </a:rPr>
              <a:t> et al., 2020)</a:t>
            </a:r>
            <a:endParaRPr lang="en-US" sz="1600" i="1">
              <a:latin typeface="Aptos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773" y="3183909"/>
            <a:ext cx="3848847" cy="3166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solidFill>
                  <a:schemeClr val="tx2">
                    <a:lumMod val="75000"/>
                  </a:schemeClr>
                </a:solidFill>
                <a:latin typeface="+mj-lt"/>
              </a:rPr>
              <a:t>Proposed Solution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+mj-lt"/>
              </a:rPr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sz="1700"/>
              <a:t>A safe </a:t>
            </a:r>
            <a:r>
              <a:rPr lang="en-US" sz="1700" b="1"/>
              <a:t>AI-powered chat</a:t>
            </a:r>
            <a:r>
              <a:rPr lang="en-US" sz="1700"/>
              <a:t> to track mental health.</a:t>
            </a:r>
          </a:p>
          <a:p>
            <a:pPr>
              <a:buFont typeface="Arial" pitchFamily="34" charset="0"/>
              <a:buChar char="•"/>
            </a:pPr>
            <a:r>
              <a:rPr lang="en-US" sz="1700"/>
              <a:t>Students can book </a:t>
            </a:r>
            <a:r>
              <a:rPr lang="en-US" sz="1700" b="1"/>
              <a:t>online/offline</a:t>
            </a:r>
            <a:r>
              <a:rPr lang="en-US" sz="1700"/>
              <a:t>  appointments.</a:t>
            </a:r>
            <a:endParaRPr lang="en-US" sz="1700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700"/>
              <a:t>A </a:t>
            </a:r>
            <a:r>
              <a:rPr lang="en-US" sz="1700" b="1"/>
              <a:t>library of resources </a:t>
            </a:r>
            <a:r>
              <a:rPr lang="en-US" sz="1700"/>
              <a:t>for a quick relief and wellness tips.</a:t>
            </a:r>
          </a:p>
          <a:p>
            <a:pPr>
              <a:buFont typeface="Arial" pitchFamily="34" charset="0"/>
              <a:buChar char="•"/>
            </a:pPr>
            <a:r>
              <a:rPr lang="en-US" sz="1700"/>
              <a:t>Immediate </a:t>
            </a:r>
            <a:r>
              <a:rPr lang="en-US" sz="1700" b="1"/>
              <a:t>alerts</a:t>
            </a:r>
            <a:r>
              <a:rPr lang="en-US" sz="1700"/>
              <a:t> for crisis situations, with admin dashboard for college to monitor overall student wellness.</a:t>
            </a:r>
            <a:endParaRPr lang="en-US" sz="1700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endParaRPr lang="en-US" sz="1700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endParaRPr lang="en-US" sz="600"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8472" y="3167163"/>
            <a:ext cx="3841514" cy="31239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solidFill>
                  <a:schemeClr val="tx2">
                    <a:lumMod val="75000"/>
                  </a:schemeClr>
                </a:solidFill>
                <a:latin typeface="+mj-lt"/>
              </a:rPr>
              <a:t>Unique value Proposition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+mj-lt"/>
              </a:rPr>
              <a:t>:</a:t>
            </a:r>
            <a:endParaRPr lang="en-US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600"/>
              <a:t>  Integrating with </a:t>
            </a:r>
            <a:r>
              <a:rPr lang="en-US" sz="1600" b="1"/>
              <a:t>WhatsApp</a:t>
            </a:r>
            <a:r>
              <a:rPr lang="en-US" sz="1600"/>
              <a:t>, making mental health support as easy as sending a message.</a:t>
            </a:r>
            <a:endParaRPr lang="en-US" sz="1600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600"/>
              <a:t> </a:t>
            </a:r>
            <a:r>
              <a:rPr lang="en-US" sz="1600" b="1"/>
              <a:t>AI-Powered Personalized Resource Engine</a:t>
            </a:r>
            <a:r>
              <a:rPr lang="en-US" sz="1700" b="1"/>
              <a:t> </a:t>
            </a:r>
            <a:r>
              <a:rPr lang="en-US" sz="1600"/>
              <a:t>that learns from your conversions  to provide personalized resources when you need it.</a:t>
            </a:r>
            <a:endParaRPr lang="en-US" sz="1600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600"/>
              <a:t>Our chatbot applies </a:t>
            </a:r>
            <a:r>
              <a:rPr lang="en-US" sz="1600" b="1"/>
              <a:t>proven</a:t>
            </a:r>
            <a:r>
              <a:rPr lang="en-US" sz="1600"/>
              <a:t> </a:t>
            </a:r>
            <a:r>
              <a:rPr lang="en-US" sz="1600" b="1"/>
              <a:t>CBT techniques</a:t>
            </a:r>
            <a:r>
              <a:rPr lang="en-US" sz="1600"/>
              <a:t> to help students manage their anxiety and depression.</a:t>
            </a:r>
            <a:endParaRPr lang="en-US" sz="1600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600"/>
              <a:t> Post Session </a:t>
            </a:r>
            <a:r>
              <a:rPr lang="en-US" sz="1600" b="1"/>
              <a:t>feedback</a:t>
            </a:r>
            <a:r>
              <a:rPr lang="en-US" sz="1600"/>
              <a:t> for support.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2" name="Picture 1" descr="A collage of a person and a robot&#10;&#10;AI-generated content may be incorrect.">
            <a:extLst>
              <a:ext uri="{FF2B5EF4-FFF2-40B4-BE49-F238E27FC236}">
                <a16:creationId xmlns:a16="http://schemas.microsoft.com/office/drawing/2014/main" id="{58ED7591-23CD-40A7-B318-99409E181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19000"/>
                    </a14:imgEffect>
                    <a14:imgEffect>
                      <a14:brightnessContrast bright="15000" contrast="6000"/>
                    </a14:imgEffect>
                  </a14:imgLayer>
                </a14:imgProps>
              </a:ext>
            </a:extLst>
          </a:blip>
          <a:srcRect l="-895" t="311" r="426" b="2015"/>
          <a:stretch>
            <a:fillRect/>
          </a:stretch>
        </p:blipFill>
        <p:spPr>
          <a:xfrm>
            <a:off x="8339390" y="1478463"/>
            <a:ext cx="3630598" cy="4815715"/>
          </a:xfrm>
          <a:prstGeom prst="rect">
            <a:avLst/>
          </a:prstGeom>
          <a:ln>
            <a:noFill/>
          </a:ln>
          <a:effectLst>
            <a:outerShdw dir="11820000">
              <a:srgbClr val="FFFFFF">
                <a:alpha val="36000"/>
              </a:srgbClr>
            </a:outerShdw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yaswanth kumar\Downloads\flow_sih.jpg"/>
          <p:cNvPicPr>
            <a:picLocks noChangeAspect="1" noChangeArrowheads="1"/>
          </p:cNvPicPr>
          <p:nvPr/>
        </p:nvPicPr>
        <p:blipFill>
          <a:blip r:embed="rId3"/>
          <a:srcRect l="3845" t="3861" r="2932" b="12384"/>
          <a:stretch>
            <a:fillRect/>
          </a:stretch>
        </p:blipFill>
        <p:spPr bwMode="auto">
          <a:xfrm>
            <a:off x="781018" y="905577"/>
            <a:ext cx="6979684" cy="5449186"/>
          </a:xfrm>
          <a:prstGeom prst="rect">
            <a:avLst/>
          </a:prstGeom>
          <a:noFill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3500" y="-100921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8194" name="AutoShape 2" descr="data:image/jpg;base64,/9j/4AAQSkZJRgABAQEAYABgAAD/2wBDAAUDBAQEAwUEBAQFBQUGBwwIBwcHBw8LCwkMEQ8SEhEPERETFhwXExQaFRERGCEYGh0dHx8fExciJCIeJBweHx7/2wBDAQUFBQcGBw4ICA4eFBEUHh4eHh4eHh4eHh4eHh4eHh4eHh4eHh4eHh4eHh4eHh4eHh4eHh4eHh4eHh4eHh4eHh7/wAARCAHDAV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ufj18W9Zi8RXXhrw1eGztrU+XcXEeN8j45UHsB045yD26+Sf8Jp4x/wChs17/AMGMv/xVHxG/5KD4j/7Ct1/6NasGvdpUoRgtBG9/wmnjH/obNe/8GMv/AMVR/wAJp4x/6GzXv/BjL/8AFVg0VpyR7Ab3/CaeMf8AobNe/wDBjL/8VR/wmnjH/obNe/8ABjL/APFVg0UckewG9/wmnjH/AKGzXv8AwYy//FUf8Jp4x/6GzXv/AAYy/wDxVYNFHJHsBvf8Jp4x/wChs17/AMGMv/xVH/CaeMf+hs17/wAGMv8A8VWDRRyR7Ab3/CaeMf8AobNe/wDBjL/8VR/wmnjH/obNe/8ABjL/APFVg0UckewG9/wmnjH/AKGzXv8AwYy//FUf8Jp4x/6GzXv/AAYy/wDxVYNFHJHsB678IvjB4g0nX7TTtf1CXUNKuJVjdrg7pISxxvDdSPXOeOnv9WqwZQynIIyDX56iv0It/wDj3j/3R/KvMx1OMWmluCH0UUVwjCiiigAooooAKKKKACiiigAooooAKKKKACiiigAooooAKKKKACiiigAooooAKKKKACiiigD4S+Iv/JQfEf8A2Fbr/wBGtWDW98Rf+Sg+I/8AsK3X/o1qwa+hh8KJCiiiqA77wJ4Osta8E6prsmla7q95aXccEdnpkoRmVhksf3Uh4+lR23w81DVohe2HlaVHPfnT7aw1GaRrozhclWKwqo/iOWCgYweeuNY+JfsvgLUvC32Lf9tu4rn7R5uNmwfd245z65FaHhvx5caFpGj2drp6PLpmqNqAleU4kDJsKFQOOM85/CsWqmrQy7b/AAq1u6uI1tNW0S4tHS4Y3qTS+SjQHEiHMYbI6j5cEcgmpLj4dQaf4V1zVNQ12ykmtbO1vLFrVpGimjmcqCcxZ5wVA+XB+9gc1OnxPtrW1fT9M8ONb2DxXgaOS+8yQy3HV9/lj5VHAXGcdTWdd+PYbvw1caJPo8myXSLTTxIl2AVe3dnWTBQ5BLcrxwPvc1P71gUfCngXVPENhFexXun2MVxd/Y7T7Y7qbmbbu2JtRh07tgZIGc1fu/hhrdro7X9xqOkJMunyagbIzSef5MZw5+5syD23fTNO8E/ESbw/4fXRZ7bUpreK7N1EbHVZLEklcFJCikumcHgqQR1p9z8SZZ2EjaWwl/sKbSS4u2J3SNu83LAtwexJJ/vU26vNpsA/Uvh5Fo/gnW9S1TU4H1nTza5srWfd9nExHyzAp97B42sRwea8+rvvEvxCtdZ0TV7f/hHzb6lrItTfXgvSyM8GMFYynyg4PG49etcDV0+az5gCiiitBBX6EW/+oj/3R/Kvz3r9CLf/AFEf+6P5V52YfZ+f6DQ+iiivNGFFFFABRRRQAUUUUAFFFFABRRRQAUUUUAFFFFABRRRQAUUUUAFFFFABRRRQAUUUUAFFFFAHwl8Rf+Sg+I/+wrdf+jWrK0qKOfVLSGVd0ck6KwzjILAGtX4i/wDJQfEf/YVuv/RrVk6bMttqNtcSBikUqOwXrgEHivoI/AhHos3h3QJfj7F4XTSYodIW8Fu1uk0vzrtzkszlsn2IFX9c8EWdxo8sSaJo+kahdaullostjqb3C3Q3MsglzLKF2jBJ+U54x2PMeIfGNuvxTk8aeHklkzOLiOO/gC7X24KkI5yPfI+lUdM8ca1p9rf29uLbbd3q36llYm2uFbIkj54PYhtwIGCKy5ajs0+iA6fWvhM+nXNiG1XUBbT38ljI02iTJNvVSwaKJSxmVgDggjpzjnDNT+Ff9m2rapfarfWulR6eLyYz6X5d3GxfYIzAZMZJ77x/jlxfEjULfWYtVsdA8PWU4eZ5/JtGH2kyrht7Fy4HJIVWUAnOKdJ8TNUeyj006Jon9lpZmyNiI5hE8e7cMt5m/cD0YMDyc5otW01A6Sx8C+EbzTPC40+/lv3vdWmjnvPIeFJ7eMb3GGfKYUHkLnOfQE1re18J33gm61u08I6XE/8Abq6dbs8184WFlyHZVm3M4z2HP92sQfE3WE02axt9J0O2R/PELQWzR/ZxMoVxGofaOAOSCeuScmsrw/4z1bQ9Hi0yxjtfLi1JNSV3Ql/NQAAdcbcDpjPvS5Knf8QO4svhRHDc2c73V1JBcSXMPlarpEtqxMcRcSKgmDFTjgkr7r1FXNe+Een32uW/9jX40+ykURzp5TS+RJ5CODkvk7y+O2PeuWHxV1mMp9l0bQ7VVuJ7krHHMd0kyssjEtISc7ievGBjjioZPil4mY35RLCI3v2feUibMZhwAUyxxuCgN19sUuWte9wOi8P/AAnS90+O1udShgvbhbR5GktHZ7Xzt52DEwVuFGcqevGKyz8NLGRLe/tfEry6QbS8urm6fTyrxLbOEYLGHIcsWGPmXjJ7YqtafFbxJb6vf6ottprzXtxFO6vHJsQxKVVVAfhcHpz9aztO8faxZW9lbLaadNbW0V3C8MsTFLiO5YNIkmGBxkAjaVIx1NNRrdwNLxvo/h3SPGPhyHSbNLrTbzT7S4kWZpVFwZCQWI37lyMHAYYrA+I2n2ek+OdY03T4fItLe6ZIo9xbao7ZYkn8TU+qeKP7f8T6XqOr28FhbWMcVusenW5ISKMkqFR35POPvCqXjvVrbXfGGqaxZpKlvd3DSRrKAHAPqASM/ia0gpJq/YDFr9CLf/UR/wC6P5V+e9foRb/6iP8A3R/KuPMPs/P9AQ+iiivNGFFFFABRRRQAUUUUAFFFFABRRRQAUUUUAFFFFABRRRQAUUUUAFFFFABRRRQAUUUUAFFFFAHwz8VLO4sfiR4hhuYzHI2ozSgH+67l1P5MK5qvsv4pfCrQvHTreTSSWOpIu1bmIA7h2DA9R+R9682/4Zpl/wChyT/wXH/45Xr0sZT5VzOzFY+faK+gv+GaZv8Aock/8Fx/+OUf8M0zf9Dkn/guP/xyr+t0e/5hY+faK+gv+GaZv+hyT/wXH/45R/wzTN/0OSf+C4//AByj63R7/mFj59or6C/4Zpm/6HJP/Bcf/jlZtz8ADD4osNBPizMt5ZXN4sg075VWF4EKn951P2hcf7pp/W6Pf8wPD6K+gv8Ahmmb/ock/wDBcf8A45R/wzTN/wBDkn/guP8A8cpfW6Pf8wsfPtFfQX/DNM3/AEOSf+C4/wDxyj/hmmb/AKHJP/Bcf/jlH1uj3/MLHz7RX0F/wzTN/wBDkn/guP8A8co/4Zpm/wChyT/wXH/45R9bo9/zCx4Jp9pPf39vY2yF57iVYo1HUsxwB+Zr9AYARBGCMHaMj8K8x+GXwX0LwfqCarc3UmqalHnypHQLHH7qvPPuSa9RrgxdeNVrl6AgooorkGFFFFABRRRQAUUUUAFFFFABRRRQAUUUUAFFFFABRRRQAUUUUAFFFFABRRRQAUUUUAFFFFABRRRQAUUUUAFFFFABXKap/wAld8O/9gDVf/SjT66uuU1T/krvh3/sAar/AOlGn00JnV0UUUhhRRRQAUUUUAFFFFABRRRQAUUUUAFFFFABRRRQAUUUUAFFFFABRRRQAUUUUAFFFFABRRRQAUUUUAFFFFABRRRQAUUUUAFFFFABRRRQAUUUUAFcpqn/ACV3w7/2ANV/9KNPrq65TVP+Su+Hf+wBqv8A6UafTQmdXRRRSGFFFFABRRRQAUUUUAFFFFABRRRQAUUUUAFFFFABRRRQAUUUUAFFFFABRRRQAUUUUAFFFFABRRRQAUUUUAFFFFABRRRQAUUUUAFFFFABRRRQAVymqf8AJXfDv/YA1X/0o0+urrlNU/5K74d/7AGq/wDpRp9NCZ1dFFFIYUUUUAFFFFABRRRQAUUUUAFFFFABRRRQAUUUUAFFFFABRRRQAUUUUAFFFFABRRRQAUUUUAFFFFABRRRQAUUUUAFFFFABRRRQAUUUUAFFFFABXKap/wAld8O/9gDVf/SjT66uvlnxt4u+Len/AB9tfBNnPZTX863FtpOpyWal0s7qSKQyFRhGMQtsZK87XyDxi4RuyJysj6mopsKtHCiPI0rKoBdgAWPqcADJ9hTqgsKKKKACiiigAooooAKKKKACiiigAooooAKKKKACiiigAooooAKKKKACiiigAooooAKKKKACiiigAooooAKKKKACiiigDyX4xfGO28G37aLpdml9qoUNKXbEcGRkZxyTjnHHBzn18v8A+GiPHH/PjoP/AIDyf/HK8/8AiZLJN8RPETyuXYancJknssjKB+QFc9Xs0sLTUVdXEew/8NEeOf8Anx0H/wAB5f8A45R/w0R45/58dB/8B5f/AI5Xj1FafVqX8oHsP/DRHjn/AJ8dB/8AAeX/AOOUf8NEeOf+fHQf/AeX/wCOV49RR9Wpfygew/8ADRHjn/nx0H/wHl/+OVQn+OHiSfXbbXZtC8NPqdrC8EFybWTekbkFlB8zvtH6+pz5bRR9XpfyiPYf+GiPHP8Az46D/wCA8v8A8co/4aI8c/8APjoP/gPL/wDHK8eoo+rUv5RnsP8Aw0R45/58dB/8B5f/AI5R/wANEeOf+fHQf/AeX/45Xj1FH1al/KB7D/w0R45/58dB/wDAeX/45R/w0R45/wCfHQf/AAHl/wDjlePUUfVqX8oH058KfjoviDWINE8SWMNndXLBILiAny3c9FKnlSe3Jz/P2+vz3t5ZIJ454WKSRsHRh1BByDX6C2//AB7x9/lH8q87GUY02nHqCH0UUVxjCiiigAooooAKKKKACiiigArN8Ua5p/hzQrrWdTl8u1tk3Oe57AD3JwB9a0q8b/a4lkj+HdiiOVWXU0RwD94eXI2PzArSlDnmogcPrf7RniKS+c6Lo+nW9rnCLdBpHI9TtZQPpz9ao/8ADRHjn/nx0H/wHl/+OV49RXsLDUv5RHsP/DRHjn/nx0H/AMB5f/jlH/DRHjn/AJ8dB/8AAeX/AOOV49RT+rUv5QPYf+GiPHP/AD46D/4Dy/8Axyj/AIaI8c/8+Og/+A8v/wAcrx6ij6tS/lA9h/4aI8c/8+Og/wDgPL/8co/4aI8c/wDPjoP/AIDy/wDxyvHqKPq1L+UD2H/hojxz/wA+Og/+A8v/AMco/wCGiPHP/PjoP/gPL/8AHK8eoo+rUv5QPYf+GiPHP/PjoP8A4Dy//HKP+GiPHP8Az46D/wCA8v8A8crx6ij6tS/lA9h/4aI8c/8APjoP/gPL/wDHKnsP2i/FqXSNfaTpE8APzpCjxsR7MWbH5V4vRS+rUv5QPur4f+LtM8Z+HYtZ00sqliksT/eicdVP5j8CKK8Q/ZMllaDxJB5jiNGtnVQcAEiUE/8Ajo/KivJr01TqOKGeRfEX/koPiP8A7Ct1/wCjWrBre+Iv/JQfEf8A2Fbr/wBGtWDXtw+FEhRRT4FSSeNJJREjMA0hBIUZ5OBycVQG9eeENXtfBlr4rkEJsbmXywiljKgJYK7DGArFGAOece4rY1D4a6laXt3pq65otxqdrZm8ksojP5hjChjhmiCE4Ocbq6S/8Y+Eb671XwwqWttoLaQljZ6mY7hpWeEboiyZIA3luiA88msv4nfECa98R3n/AAjV9bCwuLOO3e4i0+OOd12KHQylBLjIxjOPwrnUqjdrDOS1fwtquneLv+EW2xXWomSKNFgY7XaRVZQCwH94ZJwBz9av634Gv9OsL+8t9U0rVRptyttfR2Ukhe3djtXIdF3AsNuV3DNWPHOt6PqXxTk1qC6vJNMMtsxntMxTAJFGrFN44YFTjI6j8a62Pxd4btLtdU1zVtP8UX0WqW01lcW+mGG6jhjb5nnkaJPMOwAbSX+YA57huc0k7AecP4T8UpexWT+GtZW6lQyRwmxlDuo6sF25IGRz71BceH9etp54LjRNShlt4fPmSS1dWji/vsCOF9zxXsh+IHh20S8t4da00wzpqE0P2OxvMrJKMLueZydz5yVVAoIPzeuFpvxA0Wz8AaUrkya7E1vY3UaQkE2UMxlHzEbTkYXGfypKrU/lA89l8L+Jop7WCXw7q8ct3n7MjWUgabAydgx83HPHas/ULO80+8ks7+0ntLmI4khnjKOhxnlTyODXun/CxPDUPiOO6Gtaa1nLqk19iCwvDLFut3RWdpXIVssFKxoV4zkDivBWZmYszFmJySTkk1dOcpbqwCUUUVqIK/Qi3/1Ef+6P5V+e9foRb/6iP/dH8q87MPs/P9BofRRRXmjCiiigAooooAKKKKACiiigArxj9rz/AJJ9pn/YVT/0VLXbfEz4iaP8Pf7LufENterpd/M8D38Me+O2kABUOoO7DDfjaCfkPFecftN65o/iH4V6Rqeh6la6jZyaqm2a3kDrnyZcg46EdweRXRh0/aRYrrY+bKKKK9sQUUUUAFFFFAG54J8Maj4t1r+ytNktopRE0rSXDlUVQQOSATySAOOpFI3hjUo/D2oa1N5MUWn3q2U8LsfNEhz2xjAwc81u+DfEWkeGvBepyLHDf61f3MUQtZfOVI4Izv3loyhyXA4D9hkYzW94/wDFHhbU/COrLpd/m+1e8tb+W08iRfKkEZEq5K44bn7xznqaxc581raDPKaKKK2EFFFFABRRRQB7x+yV/wAzN/26f+1qKP2Sv+Zm/wC3T/2tRXi4v+M/66FI8l+Iv/JQfEf/AGFbr/0a1O8OeH7bUvDuva1dahNax6THCwjithKZWlcoo5ddozjJ547U34i/8lB8R/8AYVuv/RrVq+C3gf4f+M7BryzhubiOzaGOe5jiMoSYs23eRuIA6DmvVu1BW8hEfh/wNc634A1TxRZ3gaawn8v7D5XzSoFDO4bd1AJO3HQGp9S+G+tLqwsNH26iBY293NNI0dskXnD5ULSPtzngc5PpTfC3jZvDvha2s7FZxqMGtrqGSB5UkPkmNo2Oc85IIx0PXNdTrnxF8Ja1NqVhPZazZaRdQ2XlGCONpontzyuC4BUg4B3AjGcVDlVUvIDnPCXwv8S61rK2d9bPpNsLmS2mnn2blkRSxCxl1aToM7cgA5rMfwH4mXTm1Maa7WKgPvEkfm+UX2CXyt28IT/ERjvnHNehH4r+GtR1yz1bVbDVrd9M1Ca4tI7ZI5BLG6BAJCzKQwxnjOenvVY/EPTtat4YIWubLU5bBdNKG2sooWQNyz3coMioV5KcfN0Ydannq32A4/V/h14ls57vybB2gg8wr580Ec8ixqDIViErF9uedhb+lX4fh/p0PhV9f1TxDcQLFY215NBbaeJnVbiRkjHzSoD93P0P59R408aeD5de1e3vJLzWbYyTrHB9lt57fc6qA8E5IkhwVyQuQxGcjNZqfEfTXvPFHlX+v6NHqUdnDp1xZRK01tFBn5SBKmMjjhj1NCnVaQHFx+GJ9VYy+FVvNVtVlit3aaGKCVZZDhQYxK5Cn++TjOemKtD4d+MDp7X66SjwBZWBS7hZpBGSHKKH3PjB+6D2PcVu6F440zQ9Uu9UbUvEXiO8vI0tZZb8eQyWxz5mCJpCz4wFyQBya338VeDdC0XwrqFrcX2oXem2l6lnbL5XBkYqv2jD5jODngNn2xVSqVE9EBwj/DnxelyLeTTbdJPIFw4bULcCOM4wzkyYQHPG7Ge2abH8PPGDz3EB0gRywTm3ZJrqGNnkC7ysYZx5h28/Jniutf4laRNreuu0N7DZapYWtusr2UF08TwgdYZSY3UnPUg9COadL8RPDt5d3L6s2t6jaGbctneafZSxzoIti8qqG2fP8Ue7gDrijnq9gOEvvB/iGx0T+2LqxSO0Eccrf6TEZESQ4RmiDb1DHoSoFFzoVsnge28SQX80jyXzWU1u9uFCMED5Vw53DBHVV71v694q8P6h4PawMN9e6j9ngit2vbODdZlCS+25QiWRMHCo449TiqV00MPwftLVruza5l1t7hYEuUeUR+Qq7mRSWXkEfMBVqUtL9wOPr7gHw6+H04E03gTwvLLJ8zu+kwFmY8kkleTXw/X6EW/+oj/3R/KuPHtrl+f6BZM5f/hWvw5/6EDwp/4J7f8A+Io/4Vr8Of8AoQPCn/gnt/8A4iurorzuZ9w5V2OU/wCFa/Dn/oQPCn/gnt//AIij/hWvw5/6EDwp/wCCe3/+Irq6KOZ9w5V2OU/4Vr8Of+hA8Kf+Ce3/APiKP+Fa/Dn/AKEDwp/4J7f/AOIrq6KOZ9w5V2OU/wCFa/Dn/oQPCn/gnt//AIij/hWvw5/6EDwp/wCCe3/+Irq6KOZ9w5V2OU/4Vr8Of+hA8Kf+Ce3/APiKP+Fa/Dn/AKEDwp/4J7f/AOIrq6KOZ9w5V2PI/iZ8CfCvi7+y7LTtP0bw3p8EzzXz6bpUMd1ccAIiyADavLk5DAnbxxXIfHzwP4Y8CfCbTdM8M6YlnE+rxtM5YvJMwhl+Z2PJ78dBngCvouvGP2vP+SfaZ/2FU/8ARUtb4eTdSKuLlSd7Hz74g8OW+k+FdC1g6hLNcaskkgt/s4VIkRip+feSTnHG0fWrifDbxo1rDcLpCFJ0jkjH2yDcUkICPt35CkkDcRgd8Va8cTW1z8PfBht7yzme1t54p4kuUMsTNIWG6MHcBgdcYrrvEvizw/p5hl0u5mvNcu/DltpiNHLH9mt84LM0m/5XBHKlQBjJI5r03OdlbzGcf4Q+G+ta5c3kd0yaZDbC5QyzPH800IBaMAuvHOCwyB+FO8TfDTXtKtIr6xT+1LQ2cFzK8JTfH5nGPLDl2UE43gYP4V2Pibx9otp48iDt51hFpU8Fw+nbJx9quFzK6ncquM7Rwe3WsyP4l6PbajcXcNpqEv8AxJLWwhWREXMsLhiW+Y4U49zz0qVOq3ewHLTfDfxpFeWlm2jZnu5WhiVbqFsSKhkKMQ+EbaCdrYNS6f8ADvWj4istL1kJpsFzby3X2tHjuY1hjUlmBjfB5GMZHJFdpa/FHwvp2qy3Wn2usvHf6pJqN550cYaImB41SPD4b5myWO3gdK59fHWjxeAIdIhtb/8AtaLSpdOWUqoiCyzB5Dndn7oA6etPnqvoBXl8B6XP4f0nUdH1jV9QudZklhsLT+yY0ZpIzg72+0EIvfdzgZJrMX4deMGvPsq6XGT9mN0JBeweSYg20uJd+wgHrzx3rf8ACXxE0/QdM8KW/wBjuppNKmu/tfypgxzE8x5JywBzhgAcY75qe8+IWjDSb7S7ZtUngk0iezgLWFpaIkssgY4igACpheSWckk8Du+aqnYDmh8OPGX2uW1bSUjljkSIeZeQIsrum9VjZnAkJXnCE1VXwR4pOhNrf9kutksTzEtKiyeWpwz+UW3lQerbcV3UnxE8K3c8DX0WrS2scVsktjNYW1zbz+XEUOA7Zhck/wCsQ528Y4qtb/ETw/FpcF1Hp+ow6va6NNpMFsoVrXa5+Vy+4Pwp6bTk96Oer2Ap6D8JtWuJL9NevINJe0SFvKjmtriU+Y20bk85dg5zzyewJwKy9U+GviaC71JdPsmvrOynmiWfckbziL77RxFtz477Q2OldAfiNop8UeJtUNrqJh1VrIwDy03KIWQtu+bA4U4wT26Vem+J3hmfV7bW5bHVxe6VcX0mnwokQinFxkr5rbsoQWOdobOOtTzVr7AcFL4F8VRCcvpLAQTQQSETRkb5seWAQ3Odw5GQM84qTw34S/tLV9X0e/vHsL7TraabYkSzozRA7kLBwB0xkbq7rQ/izpFnpmkW95p19cTW1nsunIQ+ZPH5fkMCWyQPLGSeeTwa5X4W3cY1rXNS1G+tIA+l3QZ7i4jjMkkinAUMQWJPZQavnqWd1YD0D9kr/mZv+3T/ANrUUfslf8zN/wBun/taivMxf8Z/10Gjyb4jqV+IXiPcCM6pcn8DKxFYFfS3xw+DN74g1mbxJ4ZaH7VMAbm1kO3zGAxuU9M4AyDjPXOevlP/AApn4l/9Cy//AIFwf/F16VLEU3BaiPP6K7//AIUz8S/+hYf/AMC4P/i6P+FM/Ev/AKFh/wDwLg/+LrT21P8AmX3gcBRXf/8ACmfiX/0LD/8AgXB/8XR/wpn4l/8AQsP/AOBcH/xdHtqf8y+8DgKK7/8A4Uz8S/8AoWH/APAuD/4uoJPhN8QI9Rh05/D5W7nhkmiiN5BuaOMorsPn6AyID/vCj21P+ZfeI4eiu/8A+FM/Ev8A6Fh//AuD/wCLo/4Uz8S/+hYf/wAC4P8A4uj21P8AmX3jOAorv/8AhTPxL/6Fh/8AwLg/+Lo/4Uz8S/8AoWH/APAuD/4uj21P+ZfeBwFFd/8A8KZ+Jf8A0LD/APgXB/8AF0f8KZ+Jf/QsP/4Fwf8AxdHtqf8AMvvA4FFZ3CqCWJwAO5r9B7f/AI94/wDcH8q+dPhJ8DdXg1211nxasNvDayCSOzVw7u6nI3EcAZxxk5/n9HDgYFebjasZtKPQEFFFFcQwooooAKKKKACiiigAooooAK8Z/a7Ut8PdNwCcaohPsPKkH9RXs1YXjzwzZeLvC93od9lUnUbJAOY3ByrD6GtKM1CakwPhGivTtb+BvxAsb54LLTotThB+SaGdEBHbIcgg+3P1qh/wpn4l/wDQsP8A+BcH/wAXXtKvTf2kI4Ciu/8A+FM/Ev8A6Fh//AuD/wCLo/4Uz8S/+hYf/wAC4P8A4un7an/MvvA4Ciu//wCFM/Ev/oWH/wDAuD/4uj/hTPxL/wChYf8A8C4P/i6PbU/5l94HAUV3V58IfiLZ2k13ceG3SGGNpJG+1QnaqjJPD+gos/hD8Rby0hu7fw27wzRrJG32qEblYZB5f0NHtqf8y+8RwtFd/wD8KZ+Jf/QsP/4Fwf8AxdH/AApn4l/9Cw//AIFwf/F0e2p/zL7xnAUV3/8Awpn4l/8AQsP/AOBcH/xdH/CmfiX/ANCw/wD4Fwf/ABdHtqf8y+8DgKK7/wD4Uz8S/wDoWH/8C4P/AIurFh8EviNc3SQzaLHZoxwZZrqMov12Mx/Sj21P+ZAdj+yZ8qeJWbhSbUA+pHm5/mKK9i+FHgWz8DeGBpiSC5uZX825n243vjHHoABgCivGrzU6jkhnY0UUViAUUUUAFFFFABXKap/yV3w7/wBgDVf/AEo0+urrlNU/5K74d/7AGq/+lGn00JnV0UUUhhRRRQAUUUUAFFFFABRRRQAUUUUAFFFFABRRRQAUUUUAFFFFABRRRQAUUUUAFFFFAGV4x/5FDWf+vCf/ANFtR4O/5FDRv+vCD/0WtHjH/kUNZ/68J/8A0W1Hg7/kUNG/68IP/Ra0+gupq0UUUhhRRRQAUUUUAFFFFABRRRQAUUUUAFFFFABXKap/yV3w7/2ANV/9KNPrq65TVP8Akrvh3/sAar/6UafTQmdXRRRSGFFFFABRRRQAUUUUAFFFFABRRRQAUUUUAFFFFABRRRQAUUUUAFFFFABRRRQAUUUUAZXjH/kUNZ/68J//AEW1Hg7/AJFDRv8Arwg/9FrR4x/5FDWf+vCf/wBFtR4O/wCRQ0b/AK8IP/Ra0+gupq0UUUhhRRRQAUUUUAFFFFABRRRQAUUUUAFFFFABXKap/wAld8O/9gDVf/SjT66uuU1T/krvh3/sAar/AOlGn00JnV0UUUhhRRRQAUUUUAFFFFABRRRQAUUUUAFFFFABRRRQAUUUUAFFFFABRRRQAUUUUAFFFFAGV4x/5FDWf+vCf/0W1Hg7/kUNG/68IP8A0WtHjH/kUNZ/68J//RbUeDv+RQ0b/rwg/wDRa0+gupq0UUUhhRRRQAUUUUAFFFFABRRRQAUUUUAFFFFABXKap/yV3w7/ANgDVf8A0o0+urr508V/HCPSvi7Bp114Q1JvEGmwX2kxWEUysl1LcT2jW7LIQCFdYSfuHG5euTi4RbehE5JLU+i6KbCZGhRpkVJCo3qrbgD3AOBke+BTqgsKKKKACiiigAooooAKKKKACiiigAooooAKKKKACiiigAooooAKKKKACiiigAooooAyvGP/ACKGs/8AXhP/AOi2o8Hf8iho3/XhB/6LWuN+Pvjj/hBvCgubvR573S9QWayuLmCQb7WR4z5ZKEfMpO4E5GMDrnFHwC8cHxz4UNzaaPPZaXp6w2VvczyDfdSJGPMIQD5VB2gHJzk9MYq+V8tyOZc1j0eiiioLCiiigAooooAKKKKAOW8e+PvDfgq3V9avMTyDMVvEu6R/oOw9zgVwP/DRvg7/AKBGvf8AfqL/AOOV4P8AGDVLvVviVrs93IXaG8ktkGeFSNigA9OmfqTXJ16tPBQ5U5biufUn/DRvg7/oD69/36i/+OUf8NG+Dv8AoD69/wB+ov8A45Xy3RV/UqQXPqT/AIaN8Hf9AfXv+/UX/wAco/4aN8Hf9AfXv+/UX/xyvluij6lSC59Sf8NG+Dv+gPr3/fqL/wCOVxWr/ET4Xal8VNL+IdxoniD+0dPtWhWMQw7JG/gkb9595QzgfVf7orxCimsHTQnqfUn/AA0b4O/6A+vf9+ov/jlH/DRvg7/oD69/36i/+OV8t0UvqVIdz6k/4aN8Hf8AQH17/v1F/wDHKP8Aho3wd/0B9e/79Rf/AByvluij6lSC59Sf8NG+Dv8AoD69/wB+ov8A45R/w0b4O/6A+vf9+ov/AI5Xy3RR9SpBc+1fAHxQ8K+NJTa6bdSQXoGfstyuyQj1HY/gTXbV8A6Dqd1o2tWeq2chSe1mWVCD6Hp9D0Psa+/IWLQozdSoJrhxVBUmrbMY6iiiuUAooooAKKKKACiiigAooooAKZcTRW8DzzyLHFGpZ3Y4CgdzT68m/ao1S7074apBayFFv7xLaUg4JTazkfjswfY1dOHPJRANb+P3gfTr57WCPUdSVDgy2sS7CfYuy5+o4qj/AMNG+Dv+gPr3/fqL/wCOV8t0V6qwVIVz6k/4aN8Hf9AfXv8Av1F/8co/4aN8Hf8AQH17/v1F/wDHK+W6KPqVILn1J/w0b4O/6A+vf9+ov/jlH/DRvg7/AKA+vf8AfqL/AOOV8t0UfUqQXPojx78aPAHjDwdqnhnUdH14W9/A0W/yIWMbdUcDzOSrBWHuKPAXxo8AeD/B2l+GdO0fXjb2ECxb/IhUyN1dyPM4LMWY+5r53op/U6drC63PqT/ho3wd/wBAfXv+/UX/AMco/wCGjfB3/QH17/v1F/8AHK+W6KX1KkO59Sf8NG+Dv+gPr3/fqL/45R/w0b4O/wCgPr3/AH6i/wDjlfLdFH1KkFz6k/4aN8Hf9AfXv+/UX/xyp7D9obwTc3SQzWmr2cbHBmmhQqv1CMx/SvlSij6lSC5+gOlahZarp8N/p9zHc2sy7o5I2yrCivBv2TtYvm0XW9K83MFrNFLEG52+YH3Aeg+TP1Jory6tP2c3EZ4r8Rf+Sg+I/wDsK3X/AKNasGt74i/8lB8R/wDYVuv/AEa1YNe7D4USFFFFUBp6P4f17WY5JNH0PU9RSM7Xa1tHlCn0JUHFUr60urG7ktL22mtbiI7ZIpoyjofQg8ivRvBum6jq3wR8RWml6fd39wdVt2EVtC0jkBeThQTXbnR2vpoftEdpfazpmkafa6kjaZHqd0khkORsdwgwuA7tkgdMVhKtyt3GeB/ZLv7D9v8Ass/2TzfJ8/yz5fmYzs3dN2OcdcUWtleXaTyWtpPOlvGZJmjjLCNB/E2Og9zX0bPof2qa80HTNN0iPT7fxUzGKbTVlhRDaK4+VdpJLnCjcM8Lnb8tLa6QbLTmm0/Q4W1S68NXO+CbSYrVriVZV2LJbRkpu5A29+ARzio+s+QHzVRX0ZY+FbI6lHdJpOirOXsI9XtbfRY7swSlN0qlZHWO2ixjcwXcCT9KyNX8P2aaNq8Efh600uytjqBkvJtMiuIZFWYhStyrebBKq8JGQQeODmqWITCx4VRXtfxY0nQbHwffmx0FUs0e0/sjUI7G3hRgUG7E4l8y63Lk52HBHPqPFK1p1FNXAKKKKsQV+hFv/qI/90fyr896/Qi3/wBRH/uj+VedmH2fn+g0PooorzRhRRRQAUUUUAFFFFABRRRQAV4x+15/yT7TP+wqn/oqWvZ68Y/a8/5J9pn/AGFU/wDRUtb4b+LEGfLdFFFe4SFX9H0bWNZlki0fSb/UZIwGdbW3eUqPUhQcVQr0j4Ptap4Y8dNfQzT240pfMjhlEbsN/QMVYD/vk1FSTjG6A4PVtL1PSLoWurabeafcFQ4iuoGicqc4OGAOODz7VTr37TtO0PUBoX2W1e80iHQbltCW4jW8ne7LZljeNtsckic7Y8gYBI9iHSLCTX7y3sfBggvGSwW6kbSLS6FvIc7t9mJm8iNxgkqQV56cE5fWO6GeA0V75oXh/R20q0X+xdDu9FdNS/tvUVgXFvKjEJslbLxgYXYMjIOeamm8J6Yt/fal/YOnf2XcyaGLGUW0ZikDzRiXy8DBBBw2OueaPrCvsB8+0V7YtrLfJrdz4b8K6Dqeq2/iF7KSzbTYPKgslD7MrwEBbOZflJxjdxVzUtF8N2/gnzLfw7Bd6adIST7VDBbrEl55nJN+8wc/N8hjAbjGM0/brsB4PRXqnxk0xbbRIrxdFttGjOoGKK1k0qK2uFXygfkliYrcQ5/jIzuPWvK60hPnVwCiiirEe8fslf8AMzf9un/taij9kr/mZv8At0/9rUV4uL/jP+uhSPK/G9rPffE/XLK1j8ye41q4iiTIG5mnYAZPA5Peq0PhTXZvFY8LQWsM2rl2TyI7qJgGUEspcNsBAByM8Yx1rcvP+S7zf9jO3/pVWn4dvLXT/wBoK+u726htYI9S1DdLNIERcrMBkngckD8a9Tmajp2EchZeE/EF4NZNvp7P/Yis2o5lRfIC7s9T8x+VuFyeKxK+gL3xN4YPh/VpLfU7P7R4h0m5v7uIXEamObyI41g9nLGQhevJ4rT07xJocetefd+JNDk0R7uwbQLYXEebFVj/AHpKcGAbcqd2Mk4rP28v5QPmyivetO8VWOoWVhdXviDT/wC3gmrRWF1c3KZtZGbMJLHPlrjcFJ4HAFW9c1C8tZHgHiHTrHxbN4d07ydRnu441cCeQzBZmG3n5SefnHTOKr272sB4j4d8Na54hEx0XTpL3yGjSQIVypkbavBPPIP0AJOACafr/hfW9DtIrzULWH7LLI0ST291FcR+YvVC0TMA3sSD1r1zW/EGh2eubvDninTdNl1XW3uHu4oVkji8uERgSJ0CSStIdx4w27kc0zwzqOi6bqekzale6Bol5Pqk7Pa6RqZlsWja2dBLIoleOI7yoBBXg/dwCQvbS3sB4ZRX0T4Yf7H4Xh07S9e0ltTsfDV0rTwX0Tx20pmUrmQHavbDE4HXtT7HWNGXUo71PGVsL+N7CPVmttStrMXLxpmSZpSjNOvRSiHB59c0fWHroB4BeaVf2el2Op3FvstL8SG1k3qfM2NtbgHIweOQKpV9ER69psEdkg8TaImgxXWsNq1kLyJjcQySymFRGCTICDwB65qvpep6RbeDpLNvFGm3sR0m1NtFfahbi1E6yByv2ONA6FT95iSze5HB7d9gPn+pbSB7q5jt42iV5GCqZZVjUH3ZiFA9yQK9+j1/SR4ltr3VvENvLesl/wDY4H1i3uo7WV8bHju1j/cIeQquDt4OK80+MWpQ6lrOnShrSS7j0+OO5lh1Jb15GGcebKkaI0gBwSu4cDmrhVcnawHKa5pd9ouq3Gl6nCILu3bbLGHV9pxnqpIPBHQ1992/+oj/AN0fyr4n+NH/ACU/W/8Arqn/AKLWvti3/wBRH/uj+VcWNd4wf9dAQ+iiivPGFFFFABRRRQAUUUUAFFFFABXjH7Xn/JPtM/7Cqf8AoqWvZ68Y/a8/5J9pn/YVT/0VLW+G/ixBny3RRRXuEhWpoOgapri3j6bBFIllD59y8lxHEsaZxkl2ArLrvPhh/wAix45/7A3/ALUWpnJpXQzlRoWqtocWtx2hksJbj7Mskbq5EvXYyg7lJ7ZAz2pmv6PqGg6k+m6pCsF2ihniEqOUyMgHaTg47Hkd67L4J69FpOralb39xZJYS2TziO8KiM3MWHhYZI+YMOPWuu8CeIrFvDekzXev6bBYg6jJ4ms7mZBNeySAlD5ZAaYnK4xnGMZ4rKVSUW9APFLWCW6uYraBd8srhEXIGWJwBz71PrGnXmkapcaZqEPk3ds5jlj3BtrDtkEg/ga920zWdHgMmuR+JNKiR/D1jbRAXyLOJY5BvXZnepUDPI5zxnmr11q2l6h4ltZ5vFOjMll4oa8eSXVIiBbGHCFSW+YZAXC5K55A5qfrDvsB8/6ro+o6XBZTX1v5Md9ALi2O9W3xk4DcE46dDg1Qr6H1jxFpLadH9q8Rabc6AuhXUN1YRXsbSS3DSfux5YbczdCGx8uDyM84fxY1/R7zwff22n3WnXOnTPaHS4v7Vjke2CoM+VbJDugG3KsHcc9Mk4LjWk2lYDya+0LU7PRbPWp4YvsN4zJBKlxG+WXqpVWJUjI4YCs2u21j/kjOgf8AYVuv/QUria2g20AUUUVQj3j9kr/mZv8At0/9rUUfslf8zN/26f8AtaivFxf8Z/10KR5R4+llt/iR4gngkeKWPWLl0dGKsrCZiCCOhBrH1LUL/U7trzUr25vbl8bpriVpHbHTLMSa9U/aB+HOr6T4rvdf06xnutKvpDOzxIWMLn7wbHQE5OenOPr5Ea9alKMopoQUUUVoIt6VqepaTd/a9K1C7sLjaV822maJ8HqMqQcUzUL281G8kvdQu7i8upCDJNPIZHfAwMseTwAKr0UWV7gFFFFAE9re3lok8drdzwJcRmOZY5CokQ/wtjqPY1BRRQAUUUUAFS2lxcWlzHdWs8tvPEwaOWJyrIR0II5BqKigCe/vLu/u5Ly+up7q5lOZJppC7ufUseTX6A2/+oj/AN0fyr40+Enw71jxd4htHexmi0iOVXubmRCqMoOSqk9SenHTP5/ZqKERUHRQAK8vHSi2oroNC0UUVwDCiiigAooooAKKKKACiiigArxj9rz/AJJ9pn/YVT/0VLXs9cT8avB8njTwNcabakC9hcXFruPBdex+oJH41rQko1E2B8VUVd1nSdT0a9ez1WwuLOdDgpMhX8R6j3HFUq95O5IVc0vVdU0ppW0vUryxaZPLlNtO0Zdf7p2kZHtVOihq4BRRRQAUUUUAFFFFAFy71TU7uxt7G61G8ntLYYt4JZ2aOL/dUnC/hVOiigAooqexs7y/uUtrG1nup3OFjhjLsT7Ac0Ae4/slf8zN/wBun/taiu+/Z9+H9z4W8KzzaxGYtR1CRZJIg3+rRQQqnHflj+NFeHiZKVVtFHqjKrAqygg9iKb5MP8AzyT/AL5FPorABnkw/wDPJP8AvkUeTD/zyT/vkU+igBnkw/8APJP++RR5MP8AzyT/AL5FPooAZ5MP/PJP++RXL6kAvxX0CEDET6HqjMg+6WE9gASPUbmx9T611dcpqn/JXfDv/YA1X/0o0+mhM6jyYf8Ankn/AHyKPJh/55J/3yKfRSGM8mH/AJ5J/wB8ijyYf+eSf98in0UAM8mH/nkn/fIo8mH/AJ5J/wB8in0UAIiqgwihR6AYpaKKACiiigAooooAKKKKACiiigAooooAKKKKAGtFGzbmjQn1K0nkw/8APJP++RT6KAGeTD/zyT/vkUeTD/zyT/vkU+igBnkw/wDPJP8AvkUeTD/zyT/vkU+igBnkw/8APJP++RR5MP8AzyT/AL5FPooAZ5MP/PJP++RR5MP/ADyT/vkU+igBnkw/88k/75FHkw/88k/75FPooAZ5MP8AzyT/AL5FAiiBBESAjodop9FABRRRQAUUUUAFFFFABRRRQAVymqf8ld8O/wDYA1X/ANKNPrq65TVP+Su+Hf8AsAar/wClGn00JnV0UUUhhRRRQAUUUUAFFFFABRRRQAUUUUAFFFFABRRRQAUUUUAFFFFABRRRQAUUUUAFFFFABRRRQAUUUUAFFFFABRRRQAUUUUAFFFFABRRRQAUUUUAFcpqn/JXfDv8A2ANV/wDSjT66uuU1T/krvh3/ALAGq/8ApRp9NCZ1dFFFIYUUUUAFFFFABRRRQAUUUUAFFFFABRRRQAUUUUAFFFFABRRRQAUUUUAFFFFABRRRQAUUUUAFFFFABRRRQAUUUUAFFFFABRRRQAUUUUAFFFFABXKap/yV3w7/ANgDVf8A0o0+urryXWvid4Bg+I2napceJ7KG303SdXtbxZdySxTC5sR5ZiI3ljsfACnOxiM4NVFNkyaR61RTYZFmhSVN211DDcpU4PqDyD7GnVJQUUUUAFFFFABRRRQAUUUUAFFFFABRRRQAUUUUAFFFFABRRRQAUUUUAFFFFABRRRQAUUUUAFFFFABRRRQAUUUUAFFFFAEF9eWljbPc3tzFbwIMtJI4VQPcmsL/AIT/AMD/APQ4aD/4Hx/418u/H3xfqHiPx3f2LzSLp+nTtbwwZ+UMh2sxHc5z+H4151XoU8DzRTkxXPub/hP/AAN/0OGg/wDgfF/jR/wn/gb/AKHDQf8AwPi/xr4ZorT6hHuFz7m/4T/wN/0OGg/+B8X+NH/Cf+Bv+hw0H/wPi/xr4Zoo+oR7hc+5v+E/8Df9DhoP/gfF/jXiHizwZ8Pda/aC0zxwPF3hsaKVF1qNudQiy91FgR/LnlW+Un/cfP3hXhFFOOCUdpEySlufc3/Cf+Bv+hw0H/wPi/xo/wCE/wDA3/Q4aD/4Hxf418M0UvqEe5Vz7m/4T/wN/wBDhoP/AIHxf40f8J/4G/6HDQf/AAPi/wAa+GaKPqEe4XPub/hP/A3/AEOGg/8AgfF/jR/wn/gb/ocNB/8AA+L/ABr4Zoo+oR7hc/QDStU03VbYXOmX1teQE4EkEgdfzFW6+Gvht4t1Dwf4otdTtJ5Fg8xRdQg/LLHnkEeuM4PY19xxtvjV8Y3AHFceIoOi1roMdRRRXOAUUUUAFFFFABRRRQAUUUUAFFFFABRRRQAUUUUAFFFFABRRRQAUUUUAFFFFABRRRQAUUUUAfCXxF/5KD4j/AOwrdf8Ao1qwa3viL/yUHxH/ANhW6/8ARrVqfBSztL/4naPaX1tb3Nu5m3xXEQkjbELkZUgg4IB6dq99S5ad/IRxtFe1W3hix8Q6FoNhqF1olzcavqjfZtT0bTFt0igjjJkjkIii+c4OAynHXpWTP4B8My3EE+mXF3ewC2uZLqzg1qxkeAxkeW73AIjjjYHJJBIxjBzxKrx6geV0V9F+D/AvhfSdSmtZtNj1KCWXT5o/tRhuHj81X3J5gXa65HYAEfnXO6n4L8JyeFJPEF6upR21rbTTpbWpt43P+klApkEOW4xy2cduOKlYiLYWPFqK9qm+E/hq71eTTNM1DVoHtdVitLiW5eN1eN4TKdoCrtIGBkkgnnArh/iJ4d8P6Paafd6FqSSmdpUuLRtSt7ySIqflfdBxtYc4IyD61ca0ZOyA42ivV7H4c+HdYvdNttFutRmtbi5ijk1NLq3nhZDCZHDRLiS3fIKgSZ6c0/8A4QPwS3nXseqXUttbaZd3dxZW+r2lzOrQumw+ZErKFdWPVcg+tL28QPJaK9d074feHVaw1tbjURpt6NONiHeGRjPPMVkjcNHtcIFJxtwe+eRWZ4n8I+HdGeNdUm1OS81a5vBZSWhhWKDZN5cYkj2jdk5J2lAowAppqtFuwHmtFewat8OPA+mX5stQ8TGwe1vYYJ2k1K1ka4RlG5liX54MOcfOGAHzHjOOE8e6Ha6Nc2Bs7O/tobq2EuLi6gukY7iCY54fkkXp2BBpxqxlsBzVfoRb/wCoj/3R/Kvz3r9CLf8A1Ef+6P5VxZh9n5/oCH0UUV5owooooAKKKKACiiigAooooAKKKKACiiigAooooAKKKKACiiigAooooAKKKKACiiigAooooA+EviL/AMlB8R/9hW6/9GtWfoOrahoeqw6ppdx9nvIN3lybFbbuUqeGBHQntWh8Rf8AkoPiP/sK3X/o1qwa+hirxRJs6L4o17RrE2Omai9tAblLoKqKSsq9HViMqccHBGRwcitJviJ4uaUP/aUATypITbixtxbskjbnDQhPLYseSSpJrlKKHCL3QzrW+JPjRrr7SdZxLmI7hawj/VE+XxsxxuP8jVa/8c+KL7TJtNuNRjNnMhjeFLWGNSpfeQNqjHzc8Yrm69A8JXFxb/BrxgbeeWEyXVpG5Ryu5GLAqcdQR1FRKMY62AxH8d+LHuJrj+2JFmnuo7uR0ijUmWNdqNkLxhRjA4PcGqXiLxNrXiBII9Uukkity5iiht44I1LHczbI1VcknJOMmu8+GGmf8Jt4HuvCkhBk07U4L2JmbGyBzsmx7AfN+NeiaVqtnq6Nr0cH2iGWPVILdJLiUxLBFGqptQMFXKgZIGeevQ1lKpGD+HYDw258feLLhoXbVtkkMyTiWG3iikeRF2q0jooaQgcfOTSXvjvxVeRyRTakixSW0ts0UNpDFH5crBpPkRAoLEZLAbveu+8a+EPB2m+HtShtbdVvbXTra7hnt0vZJC78t5pKmBY2zhSCD8vJNclLcXEvwOhhlnlkjh8QlYkZyVjBtySFHYZJPHcmrjKEkmogYcHirxBDpemaZHqLCz0u6+2WUXloRFNndu5GTzng5HPSrcfjvxVHaT2yaoAszTMX+zxeYnnHMoR9u6MMeSFIFc1RWvJHsB1n/CxvGeYmXWSjRyLKXS2iVpWVNgMrBcy/Lx8+6sXXtc1LXJYJNRmjcW8YihjigjhjjTJOFSMKo5J6Cs2ihQitkAV+hFv/AKiP/dH8q/Pev0It/wDUR/7o/lXBmH2fn+gIfRRRXmjCiiigAooooAKKKKACiiigAooooAKKKKACiiigAooooAKKKKACiiigAooooAKKKKACiiigD4S+Iv8AyUHxH/2Fbr/0a1YNdt8bvD97oHxI1ZbqNvKvLh7uCTHyush3HH0JI/CuJr6Cm04JokKKKKsArb0nxJc6f4a1TQBZWdxa6kUaRpQ++NkztZCrAZGe4I9qxKKTSe4FrTtR1DTZXm06+urOSSMxO8ErRlkPVSQeQcDip7DXtc09IUsNZ1G0WAs0IhuXQRlvvFcHjPfHWs6iiyA0rrxBr13pq6Zda1qU9ipyLaS6dogc5zsJx19qll16d/CMPhpbO0jto7s3jTKH82SQqV+bLFcBTjAUdB71kUUcqAKKKKYBRRRQAV+hFv8A6iP/AHR/Kvg7wdoN54l8SWWi2MbPJcSqrEDhEz8zH2Ar7yiUpEinkhQDXm5g1eKGh1FFFecMKKKKACiiigAooooAKKKKACiiigAooooAKKKKACiiigAooooAKKKKACiiigAooooAKKKKAMXxh4f0XxBpT2+s6bbXsajKiVMlT6g9QfcVwQ+D/wAOjz/wjv8A5O3H/wAXRRVxqTitGAf8Kf8Ah1/0Lv8A5O3H/wAXR/wp/wCHX/Qu/wDk7cf/ABdFFP21T+Z/eAf8Kf8Ah1/0Lv8A5O3H/wAXR/wp/wCHX/Qu/wDk7cf/ABdFFHtqn8z+8A/4U/8ADr/oXf8AyduP/i6P+FP/AA6/6F3/AMnbj/4uiij21T+Z/eAf8Kf+HX/Qu/8Ak7cf/F0f8Kf+HX/Qu/8Ak7cf/F0UUe2qfzP7wD/hT/w6/wChd/8AJ24/+Lo/4U/8Ov8AoXf/ACduP/i6KKPbVP5n94B/wp/4df8AQu/+Ttx/8XR/wp/4df8AQu/+Ttx/8XRRR7ap/M/vA7LwL4U8O+HLRv7E0i2s2ckM6gl2HuxyT+ddLRRUNtu7AKKKKQBRRRQAUUUUAFFFFABRRRQAUUUUAFFFFABRRRQAUUUUAFFFFABRRRQAUUUUAFFFFABRRRQB/9k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data:image/jpg;base64,/9j/4AAQSkZJRgABAQEAYABgAAD/2wBDAAUDBAQEAwUEBAQFBQUGBwwIBwcHBw8LCwkMEQ8SEhEPERETFhwXExQaFRERGCEYGh0dHx8fExciJCIeJBweHx7/2wBDAQUFBQcGBw4ICA4eFBEUHh4eHh4eHh4eHh4eHh4eHh4eHh4eHh4eHh4eHh4eHh4eHh4eHh4eHh4eHh4eHh4eHh7/wAARCAHDAV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ufj18W9Zi8RXXhrw1eGztrU+XcXEeN8j45UHsB045yD26+Sf8Jp4x/wChs17/AMGMv/xVHxG/5KD4j/7Ct1/6NasGvdpUoRgtBG9/wmnjH/obNe/8GMv/AMVR/wAJp4x/6GzXv/BjL/8AFVg0VpyR7Ab3/CaeMf8AobNe/wDBjL/8VR/wmnjH/obNe/8ABjL/APFVg0UckewG9/wmnjH/AKGzXv8AwYy//FUf8Jp4x/6GzXv/AAYy/wDxVYNFHJHsBvf8Jp4x/wChs17/AMGMv/xVH/CaeMf+hs17/wAGMv8A8VWDRRyR7Ab3/CaeMf8AobNe/wDBjL/8VR/wmnjH/obNe/8ABjL/APFVg0UckewG9/wmnjH/AKGzXv8AwYy//FUf8Jp4x/6GzXv/AAYy/wDxVYNFHJHsB678IvjB4g0nX7TTtf1CXUNKuJVjdrg7pISxxvDdSPXOeOnv9WqwZQynIIyDX56iv0It/wDj3j/3R/KvMx1OMWmluCH0UUVwjCiiigAooooAKKKKACiiigAooooAKKKKACiiigAooooAKKKKACiiigAooooAKKKKACiiigD4S+Iv/JQfEf8A2Fbr/wBGtWDW98Rf+Sg+I/8AsK3X/o1qwa+hh8KJCiiiqA77wJ4Osta8E6prsmla7q95aXccEdnpkoRmVhksf3Uh4+lR23w81DVohe2HlaVHPfnT7aw1GaRrozhclWKwqo/iOWCgYweeuNY+JfsvgLUvC32Lf9tu4rn7R5uNmwfd245z65FaHhvx5caFpGj2drp6PLpmqNqAleU4kDJsKFQOOM85/CsWqmrQy7b/AAq1u6uI1tNW0S4tHS4Y3qTS+SjQHEiHMYbI6j5cEcgmpLj4dQaf4V1zVNQ12ykmtbO1vLFrVpGimjmcqCcxZ5wVA+XB+9gc1OnxPtrW1fT9M8ONb2DxXgaOS+8yQy3HV9/lj5VHAXGcdTWdd+PYbvw1caJPo8myXSLTTxIl2AVe3dnWTBQ5BLcrxwPvc1P71gUfCngXVPENhFexXun2MVxd/Y7T7Y7qbmbbu2JtRh07tgZIGc1fu/hhrdro7X9xqOkJMunyagbIzSef5MZw5+5syD23fTNO8E/ESbw/4fXRZ7bUpreK7N1EbHVZLEklcFJCikumcHgqQR1p9z8SZZ2EjaWwl/sKbSS4u2J3SNu83LAtwexJJ/vU26vNpsA/Uvh5Fo/gnW9S1TU4H1nTza5srWfd9nExHyzAp97B42sRwea8+rvvEvxCtdZ0TV7f/hHzb6lrItTfXgvSyM8GMFYynyg4PG49etcDV0+az5gCiiitBBX6EW/+oj/3R/Kvz3r9CLf/AFEf+6P5V52YfZ+f6DQ+iiivNGFFFFABRRRQAUUUUAFFFFABRRRQAUUUUAFFFFABRRRQAUUUUAFFFFABRRRQAUUUUAFFFFAHwl8Rf+Sg+I/+wrdf+jWrK0qKOfVLSGVd0ck6KwzjILAGtX4i/wDJQfEf/YVuv/RrVk6bMttqNtcSBikUqOwXrgEHivoI/AhHos3h3QJfj7F4XTSYodIW8Fu1uk0vzrtzkszlsn2IFX9c8EWdxo8sSaJo+kahdaullostjqb3C3Q3MsglzLKF2jBJ+U54x2PMeIfGNuvxTk8aeHklkzOLiOO/gC7X24KkI5yPfI+lUdM8ca1p9rf29uLbbd3q36llYm2uFbIkj54PYhtwIGCKy5ajs0+iA6fWvhM+nXNiG1XUBbT38ljI02iTJNvVSwaKJSxmVgDggjpzjnDNT+Ff9m2rapfarfWulR6eLyYz6X5d3GxfYIzAZMZJ77x/jlxfEjULfWYtVsdA8PWU4eZ5/JtGH2kyrht7Fy4HJIVWUAnOKdJ8TNUeyj006Jon9lpZmyNiI5hE8e7cMt5m/cD0YMDyc5otW01A6Sx8C+EbzTPC40+/lv3vdWmjnvPIeFJ7eMb3GGfKYUHkLnOfQE1re18J33gm61u08I6XE/8Abq6dbs8184WFlyHZVm3M4z2HP92sQfE3WE02axt9J0O2R/PELQWzR/ZxMoVxGofaOAOSCeuScmsrw/4z1bQ9Hi0yxjtfLi1JNSV3Ql/NQAAdcbcDpjPvS5Knf8QO4svhRHDc2c73V1JBcSXMPlarpEtqxMcRcSKgmDFTjgkr7r1FXNe+Een32uW/9jX40+ykURzp5TS+RJ5CODkvk7y+O2PeuWHxV1mMp9l0bQ7VVuJ7krHHMd0kyssjEtISc7ievGBjjioZPil4mY35RLCI3v2feUibMZhwAUyxxuCgN19sUuWte9wOi8P/AAnS90+O1udShgvbhbR5GktHZ7Xzt52DEwVuFGcqevGKyz8NLGRLe/tfEry6QbS8urm6fTyrxLbOEYLGHIcsWGPmXjJ7YqtafFbxJb6vf6ottprzXtxFO6vHJsQxKVVVAfhcHpz9aztO8faxZW9lbLaadNbW0V3C8MsTFLiO5YNIkmGBxkAjaVIx1NNRrdwNLxvo/h3SPGPhyHSbNLrTbzT7S4kWZpVFwZCQWI37lyMHAYYrA+I2n2ek+OdY03T4fItLe6ZIo9xbao7ZYkn8TU+qeKP7f8T6XqOr28FhbWMcVusenW5ISKMkqFR35POPvCqXjvVrbXfGGqaxZpKlvd3DSRrKAHAPqASM/ia0gpJq/YDFr9CLf/UR/wC6P5V+e9foRb/6iP8A3R/KuPMPs/P9AQ+iiivNGFFFFABRRRQAUUUUAFFFFABRRRQAUUUUAFFFFABRRRQAUUUUAFFFFABRRRQAUUUUAFFFFAHwz8VLO4sfiR4hhuYzHI2ozSgH+67l1P5MK5qvsv4pfCrQvHTreTSSWOpIu1bmIA7h2DA9R+R9682/4Zpl/wChyT/wXH/45Xr0sZT5VzOzFY+faK+gv+GaZv8Aock/8Fx/+OUf8M0zf9Dkn/guP/xyr+t0e/5hY+faK+gv+GaZv+hyT/wXH/45R/wzTN/0OSf+C4//AByj63R7/mFj59or6C/4Zpm/6HJP/Bcf/jlZtz8ADD4osNBPizMt5ZXN4sg075VWF4EKn951P2hcf7pp/W6Pf8wPD6K+gv8Ahmmb/ock/wDBcf8A45R/wzTN/wBDkn/guP8A8cpfW6Pf8wsfPtFfQX/DNM3/AEOSf+C4/wDxyj/hmmb/AKHJP/Bcf/jlH1uj3/MLHz7RX0F/wzTN/wBDkn/guP8A8co/4Zpm/wChyT/wXH/45R9bo9/zCx4Jp9pPf39vY2yF57iVYo1HUsxwB+Zr9AYARBGCMHaMj8K8x+GXwX0LwfqCarc3UmqalHnypHQLHH7qvPPuSa9RrgxdeNVrl6AgooorkGFFFFABRRRQAUUUUAFFFFABRRRQAUUUUAFFFFABRRRQAUUUUAFFFFABRRRQAUUUUAFFFFABRRRQAUUUUAFFFFABXKap/wAld8O/9gDVf/SjT66uuU1T/krvh3/sAar/AOlGn00JnV0UUUhhRRRQAUUUUAFFFFABRRRQAUUUUAFFFFABRRRQAUUUUAFFFFABRRRQAUUUUAFFFFABRRRQAUUUUAFFFFABRRRQAUUUUAFFFFABRRRQAUUUUAFcpqn/ACV3w7/2ANV/9KNPrq65TVP+Su+Hf+wBqv8A6UafTQmdXRRRSGFFFFABRRRQAUUUUAFFFFABRRRQAUUUUAFFFFABRRRQAUUUUAFFFFABRRRQAUUUUAFFFFABRRRQAUUUUAFFFFABRRRQAUUUUAFFFFABRRRQAVymqf8AJXfDv/YA1X/0o0+urrlNU/5K74d/7AGq/wDpRp9NCZ1dFFFIYUUUUAFFFFABRRRQAUUUUAFFFFABRRRQAUUUUAFFFFABRRRQAUUUUAFFFFABRRRQAUUUUAFFFFABRRRQAUUUUAFFFFABRRRQAUUUUAFFFFABXKap/wAld8O/9gDVf/SjT66uvlnxt4u+Len/AB9tfBNnPZTX863FtpOpyWal0s7qSKQyFRhGMQtsZK87XyDxi4RuyJysj6mopsKtHCiPI0rKoBdgAWPqcADJ9hTqgsKKKKACiiigAooooAKKKKACiiigAooooAKKKKACiiigAooooAKKKKACiiigAooooAKKKKACiiigAooooAKKKKACiiigDyX4xfGO28G37aLpdml9qoUNKXbEcGRkZxyTjnHHBzn18v8A+GiPHH/PjoP/AIDyf/HK8/8AiZLJN8RPETyuXYancJknssjKB+QFc9Xs0sLTUVdXEew/8NEeOf8Anx0H/wAB5f8A45R/w0R45/58dB/8B5f/AI5Xj1FafVqX8oHsP/DRHjn/AJ8dB/8AAeX/AOOUf8NEeOf+fHQf/AeX/wCOV49RR9Wpfygew/8ADRHjn/nx0H/wHl/+OVQn+OHiSfXbbXZtC8NPqdrC8EFybWTekbkFlB8zvtH6+pz5bRR9XpfyiPYf+GiPHP8Az46D/wCA8v8A8co/4aI8c/8APjoP/gPL/wDHK8eoo+rUv5RnsP8Aw0R45/58dB/8B5f/AI5R/wANEeOf+fHQf/AeX/45Xj1FH1al/KB7D/w0R45/58dB/wDAeX/45R/w0R45/wCfHQf/AAHl/wDjlePUUfVqX8oH058KfjoviDWINE8SWMNndXLBILiAny3c9FKnlSe3Jz/P2+vz3t5ZIJ454WKSRsHRh1BByDX6C2//AB7x9/lH8q87GUY02nHqCH0UUVxjCiiigAooooAKKKKACiiigArN8Ua5p/hzQrrWdTl8u1tk3Oe57AD3JwB9a0q8b/a4lkj+HdiiOVWXU0RwD94eXI2PzArSlDnmogcPrf7RniKS+c6Lo+nW9rnCLdBpHI9TtZQPpz9ao/8ADRHjn/nx0H/wHl/+OV49RXsLDUv5RHsP/DRHjn/nx0H/AMB5f/jlH/DRHjn/AJ8dB/8AAeX/AOOV49RT+rUv5QPYf+GiPHP/AD46D/4Dy/8Axyj/AIaI8c/8+Og/+A8v/wAcrx6ij6tS/lA9h/4aI8c/8+Og/wDgPL/8co/4aI8c/wDPjoP/AIDy/wDxyvHqKPq1L+UD2H/hojxz/wA+Og/+A8v/AMco/wCGiPHP/PjoP/gPL/8AHK8eoo+rUv5QPYf+GiPHP/PjoP8A4Dy//HKP+GiPHP8Az46D/wCA8v8A8crx6ij6tS/lA9h/4aI8c/8APjoP/gPL/wDHKnsP2i/FqXSNfaTpE8APzpCjxsR7MWbH5V4vRS+rUv5QPur4f+LtM8Z+HYtZ00sqliksT/eicdVP5j8CKK8Q/ZMllaDxJB5jiNGtnVQcAEiUE/8Ajo/KivJr01TqOKGeRfEX/koPiP8A7Ct1/wCjWrBre+Iv/JQfEf8A2Fbr/wBGtWDXtw+FEhRRT4FSSeNJJREjMA0hBIUZ5OBycVQG9eeENXtfBlr4rkEJsbmXywiljKgJYK7DGArFGAOece4rY1D4a6laXt3pq65otxqdrZm8ksojP5hjChjhmiCE4Ocbq6S/8Y+Eb671XwwqWttoLaQljZ6mY7hpWeEboiyZIA3luiA88msv4nfECa98R3n/AAjV9bCwuLOO3e4i0+OOd12KHQylBLjIxjOPwrnUqjdrDOS1fwtquneLv+EW2xXWomSKNFgY7XaRVZQCwH94ZJwBz9av634Gv9OsL+8t9U0rVRptyttfR2Ukhe3djtXIdF3AsNuV3DNWPHOt6PqXxTk1qC6vJNMMtsxntMxTAJFGrFN44YFTjI6j8a62Pxd4btLtdU1zVtP8UX0WqW01lcW+mGG6jhjb5nnkaJPMOwAbSX+YA57huc0k7AecP4T8UpexWT+GtZW6lQyRwmxlDuo6sF25IGRz71BceH9etp54LjRNShlt4fPmSS1dWji/vsCOF9zxXsh+IHh20S8t4da00wzpqE0P2OxvMrJKMLueZydz5yVVAoIPzeuFpvxA0Wz8AaUrkya7E1vY3UaQkE2UMxlHzEbTkYXGfypKrU/lA89l8L+Jop7WCXw7q8ct3n7MjWUgabAydgx83HPHas/ULO80+8ks7+0ntLmI4khnjKOhxnlTyODXun/CxPDUPiOO6Gtaa1nLqk19iCwvDLFut3RWdpXIVssFKxoV4zkDivBWZmYszFmJySTkk1dOcpbqwCUUUVqIK/Qi3/1Ef+6P5V+e9foRb/6iP/dH8q87MPs/P9BofRRRXmjCiiigAooooAKKKKACiiigArxj9rz/AJJ9pn/YVT/0VLXbfEz4iaP8Pf7LufENterpd/M8D38Me+O2kABUOoO7DDfjaCfkPFecftN65o/iH4V6Rqeh6la6jZyaqm2a3kDrnyZcg46EdweRXRh0/aRYrrY+bKKKK9sQUUUUAFFFFAG54J8Maj4t1r+ytNktopRE0rSXDlUVQQOSATySAOOpFI3hjUo/D2oa1N5MUWn3q2U8LsfNEhz2xjAwc81u+DfEWkeGvBepyLHDf61f3MUQtZfOVI4Izv3loyhyXA4D9hkYzW94/wDFHhbU/COrLpd/m+1e8tb+W08iRfKkEZEq5K44bn7xznqaxc581raDPKaKKK2EFFFFABRRRQB7x+yV/wAzN/26f+1qKP2Sv+Zm/wC3T/2tRXi4v+M/66FI8l+Iv/JQfEf/AGFbr/0a1O8OeH7bUvDuva1dahNax6THCwjithKZWlcoo5ddozjJ547U34i/8lB8R/8AYVuv/RrVq+C3gf4f+M7BryzhubiOzaGOe5jiMoSYs23eRuIA6DmvVu1BW8hEfh/wNc634A1TxRZ3gaawn8v7D5XzSoFDO4bd1AJO3HQGp9S+G+tLqwsNH26iBY293NNI0dskXnD5ULSPtzngc5PpTfC3jZvDvha2s7FZxqMGtrqGSB5UkPkmNo2Oc85IIx0PXNdTrnxF8Ja1NqVhPZazZaRdQ2XlGCONpontzyuC4BUg4B3AjGcVDlVUvIDnPCXwv8S61rK2d9bPpNsLmS2mnn2blkRSxCxl1aToM7cgA5rMfwH4mXTm1Maa7WKgPvEkfm+UX2CXyt28IT/ERjvnHNehH4r+GtR1yz1bVbDVrd9M1Ca4tI7ZI5BLG6BAJCzKQwxnjOenvVY/EPTtat4YIWubLU5bBdNKG2sooWQNyz3coMioV5KcfN0Ydannq32A4/V/h14ls57vybB2gg8wr580Ec8ixqDIViErF9uedhb+lX4fh/p0PhV9f1TxDcQLFY215NBbaeJnVbiRkjHzSoD93P0P59R408aeD5de1e3vJLzWbYyTrHB9lt57fc6qA8E5IkhwVyQuQxGcjNZqfEfTXvPFHlX+v6NHqUdnDp1xZRK01tFBn5SBKmMjjhj1NCnVaQHFx+GJ9VYy+FVvNVtVlit3aaGKCVZZDhQYxK5Cn++TjOemKtD4d+MDp7X66SjwBZWBS7hZpBGSHKKH3PjB+6D2PcVu6F440zQ9Uu9UbUvEXiO8vI0tZZb8eQyWxz5mCJpCz4wFyQBya338VeDdC0XwrqFrcX2oXem2l6lnbL5XBkYqv2jD5jODngNn2xVSqVE9EBwj/DnxelyLeTTbdJPIFw4bULcCOM4wzkyYQHPG7Ge2abH8PPGDz3EB0gRywTm3ZJrqGNnkC7ysYZx5h28/Jniutf4laRNreuu0N7DZapYWtusr2UF08TwgdYZSY3UnPUg9COadL8RPDt5d3L6s2t6jaGbctneafZSxzoIti8qqG2fP8Ue7gDrijnq9gOEvvB/iGx0T+2LqxSO0Eccrf6TEZESQ4RmiDb1DHoSoFFzoVsnge28SQX80jyXzWU1u9uFCMED5Vw53DBHVV71v694q8P6h4PawMN9e6j9ngit2vbODdZlCS+25QiWRMHCo449TiqV00MPwftLVruza5l1t7hYEuUeUR+Qq7mRSWXkEfMBVqUtL9wOPr7gHw6+H04E03gTwvLLJ8zu+kwFmY8kkleTXw/X6EW/+oj/3R/KuPHtrl+f6BZM5f/hWvw5/6EDwp/4J7f8A+Io/4Vr8Of8AoQPCn/gnt/8A4iurorzuZ9w5V2OU/wCFa/Dn/oQPCn/gnt//AIij/hWvw5/6EDwp/wCCe3/+Irq6KOZ9w5V2OU/4Vr8Of+hA8Kf+Ce3/APiKP+Fa/Dn/AKEDwp/4J7f/AOIrq6KOZ9w5V2OU/wCFa/Dn/oQPCn/gnt//AIij/hWvw5/6EDwp/wCCe3/+Irq6KOZ9w5V2OU/4Vr8Of+hA8Kf+Ce3/APiKP+Fa/Dn/AKEDwp/4J7f/AOIrq6KOZ9w5V2PI/iZ8CfCvi7+y7LTtP0bw3p8EzzXz6bpUMd1ccAIiyADavLk5DAnbxxXIfHzwP4Y8CfCbTdM8M6YlnE+rxtM5YvJMwhl+Z2PJ78dBngCvouvGP2vP+SfaZ/2FU/8ARUtb4eTdSKuLlSd7Hz74g8OW+k+FdC1g6hLNcaskkgt/s4VIkRip+feSTnHG0fWrifDbxo1rDcLpCFJ0jkjH2yDcUkICPt35CkkDcRgd8Va8cTW1z8PfBht7yzme1t54p4kuUMsTNIWG6MHcBgdcYrrvEvizw/p5hl0u5mvNcu/DltpiNHLH9mt84LM0m/5XBHKlQBjJI5r03OdlbzGcf4Q+G+ta5c3kd0yaZDbC5QyzPH800IBaMAuvHOCwyB+FO8TfDTXtKtIr6xT+1LQ2cFzK8JTfH5nGPLDl2UE43gYP4V2Pibx9otp48iDt51hFpU8Fw+nbJx9quFzK6ncquM7Rwe3WsyP4l6PbajcXcNpqEv8AxJLWwhWREXMsLhiW+Y4U49zz0qVOq3ewHLTfDfxpFeWlm2jZnu5WhiVbqFsSKhkKMQ+EbaCdrYNS6f8ADvWj4istL1kJpsFzby3X2tHjuY1hjUlmBjfB5GMZHJFdpa/FHwvp2qy3Wn2usvHf6pJqN550cYaImB41SPD4b5myWO3gdK59fHWjxeAIdIhtb/8AtaLSpdOWUqoiCyzB5Dndn7oA6etPnqvoBXl8B6XP4f0nUdH1jV9QudZklhsLT+yY0ZpIzg72+0EIvfdzgZJrMX4deMGvPsq6XGT9mN0JBeweSYg20uJd+wgHrzx3rf8ACXxE0/QdM8KW/wBjuppNKmu/tfypgxzE8x5JywBzhgAcY75qe8+IWjDSb7S7ZtUngk0iezgLWFpaIkssgY4igACpheSWckk8Du+aqnYDmh8OPGX2uW1bSUjljkSIeZeQIsrum9VjZnAkJXnCE1VXwR4pOhNrf9kutksTzEtKiyeWpwz+UW3lQerbcV3UnxE8K3c8DX0WrS2scVsktjNYW1zbz+XEUOA7Zhck/wCsQ528Y4qtb/ETw/FpcF1Hp+ow6va6NNpMFsoVrXa5+Vy+4Pwp6bTk96Oer2Ap6D8JtWuJL9NevINJe0SFvKjmtriU+Y20bk85dg5zzyewJwKy9U+GviaC71JdPsmvrOynmiWfckbziL77RxFtz477Q2OldAfiNop8UeJtUNrqJh1VrIwDy03KIWQtu+bA4U4wT26Vem+J3hmfV7bW5bHVxe6VcX0mnwokQinFxkr5rbsoQWOdobOOtTzVr7AcFL4F8VRCcvpLAQTQQSETRkb5seWAQ3Odw5GQM84qTw34S/tLV9X0e/vHsL7TraabYkSzozRA7kLBwB0xkbq7rQ/izpFnpmkW95p19cTW1nsunIQ+ZPH5fkMCWyQPLGSeeTwa5X4W3cY1rXNS1G+tIA+l3QZ7i4jjMkkinAUMQWJPZQavnqWd1YD0D9kr/mZv+3T/ANrUUfslf8zN/wBun/taivMxf8Z/10Gjyb4jqV+IXiPcCM6pcn8DKxFYFfS3xw+DN74g1mbxJ4ZaH7VMAbm1kO3zGAxuU9M4AyDjPXOevlP/AApn4l/9Cy//AIFwf/F16VLEU3BaiPP6K7//AIUz8S/+hYf/AMC4P/i6P+FM/Ev/AKFh/wDwLg/+LrT21P8AmX3gcBRXf/8ACmfiX/0LD/8AgXB/8XR/wpn4l/8AQsP/AOBcH/xdHtqf8y+8DgKK7/8A4Uz8S/8AoWH/APAuD/4uoJPhN8QI9Rh05/D5W7nhkmiiN5BuaOMorsPn6AyID/vCj21P+ZfeI4eiu/8A+FM/Ev8A6Fh//AuD/wCLo/4Uz8S/+hYf/wAC4P8A4uj21P8AmX3jOAorv/8AhTPxL/6Fh/8AwLg/+Lo/4Uz8S/8AoWH/APAuD/4uj21P+ZfeBwFFd/8A8KZ+Jf8A0LD/APgXB/8AF0f8KZ+Jf/QsP/4Fwf8AxdHtqf8AMvvA4FFZ3CqCWJwAO5r9B7f/AI94/wDcH8q+dPhJ8DdXg1211nxasNvDayCSOzVw7u6nI3EcAZxxk5/n9HDgYFebjasZtKPQEFFFFcQwooooAKKKKACiiigAooooAK8Z/a7Ut8PdNwCcaohPsPKkH9RXs1YXjzwzZeLvC93od9lUnUbJAOY3ByrD6GtKM1CakwPhGivTtb+BvxAsb54LLTotThB+SaGdEBHbIcgg+3P1qh/wpn4l/wDQsP8A+BcH/wAXXtKvTf2kI4Ciu/8A+FM/Ev8A6Fh//AuD/wCLo/4Uz8S/+hYf/wAC4P8A4un7an/MvvA4Ciu//wCFM/Ev/oWH/wDAuD/4uj/hTPxL/wChYf8A8C4P/i6PbU/5l94HAUV3V58IfiLZ2k13ceG3SGGNpJG+1QnaqjJPD+gos/hD8Rby0hu7fw27wzRrJG32qEblYZB5f0NHtqf8y+8RwtFd/wD8KZ+Jf/QsP/4Fwf8AxdH/AApn4l/9Cw//AIFwf/F0e2p/zL7xnAUV3/8Awpn4l/8AQsP/AOBcH/xdH/CmfiX/ANCw/wD4Fwf/ABdHtqf8y+8DgKK7/wD4Uz8S/wDoWH/8C4P/AIurFh8EviNc3SQzaLHZoxwZZrqMov12Mx/Sj21P+ZAdj+yZ8qeJWbhSbUA+pHm5/mKK9i+FHgWz8DeGBpiSC5uZX825n243vjHHoABgCivGrzU6jkhnY0UUViAUUUUAFFFFABXKap/yV3w7/wBgDVf/AEo0+urrlNU/5K74d/7AGq/+lGn00JnV0UUUhhRRRQAUUUUAFFFFABRRRQAUUUUAFFFFABRRRQAUUUUAFFFFABRRRQAUUUUAFFFFAGV4x/5FDWf+vCf/ANFtR4O/5FDRv+vCD/0WtHjH/kUNZ/68J/8A0W1Hg7/kUNG/68IP/Ra0+gupq0UUUhhRRRQAUUUUAFFFFABRRRQAUUUUAFFFFABXKap/yV3w7/2ANV/9KNPrq65TVP8Akrvh3/sAar/6UafTQmdXRRRSGFFFFABRRRQAUUUUAFFFFABRRRQAUUUUAFFFFABRRRQAUUUUAFFFFABRRRQAUUUUAZXjH/kUNZ/68J//AEW1Hg7/AJFDRv8Arwg/9FrR4x/5FDWf+vCf/wBFtR4O/wCRQ0b/AK8IP/Ra0+gupq0UUUhhRRRQAUUUUAFFFFABRRRQAUUUUAFFFFABXKap/wAld8O/9gDVf/SjT66uuU1T/krvh3/sAar/AOlGn00JnV0UUUhhRRRQAUUUUAFFFFABRRRQAUUUUAFFFFABRRRQAUUUUAFFFFABRRRQAUUUUAFFFFAGV4x/5FDWf+vCf/0W1Hg7/kUNG/68IP8A0WtHjH/kUNZ/68J//RbUeDv+RQ0b/rwg/wDRa0+gupq0UUUhhRRRQAUUUUAFFFFABRRRQAUUUUAFFFFABXKap/yV3w7/ANgDVf8A0o0+urr508V/HCPSvi7Bp114Q1JvEGmwX2kxWEUysl1LcT2jW7LIQCFdYSfuHG5euTi4RbehE5JLU+i6KbCZGhRpkVJCo3qrbgD3AOBke+BTqgsKKKKACiiigAooooAKKKKACiiigAooooAKKKKACiiigAooooAKKKKACiiigAooooAyvGP/ACKGs/8AXhP/AOi2o8Hf8iho3/XhB/6LWuN+Pvjj/hBvCgubvR573S9QWayuLmCQb7WR4z5ZKEfMpO4E5GMDrnFHwC8cHxz4UNzaaPPZaXp6w2VvczyDfdSJGPMIQD5VB2gHJzk9MYq+V8tyOZc1j0eiiioLCiiigAooooAKKKKAOW8e+PvDfgq3V9avMTyDMVvEu6R/oOw9zgVwP/DRvg7/AKBGvf8AfqL/AOOV4P8AGDVLvVviVrs93IXaG8ktkGeFSNigA9OmfqTXJ16tPBQ5U5biufUn/DRvg7/oD69/36i/+OUf8NG+Dv8AoD69/wB+ov8A45Xy3RV/UqQXPqT/AIaN8Hf9AfXv+/UX/wAco/4aN8Hf9AfXv+/UX/xyvluij6lSC59Sf8NG+Dv+gPr3/fqL/wCOVxWr/ET4Xal8VNL+IdxoniD+0dPtWhWMQw7JG/gkb9595QzgfVf7orxCimsHTQnqfUn/AA0b4O/6A+vf9+ov/jlH/DRvg7/oD69/36i/+OV8t0UvqVIdz6k/4aN8Hf8AQH17/v1F/wDHKP8Aho3wd/0B9e/79Rf/AByvluij6lSC59Sf8NG+Dv8AoD69/wB+ov8A45R/w0b4O/6A+vf9+ov/AI5Xy3RR9SpBc+1fAHxQ8K+NJTa6bdSQXoGfstyuyQj1HY/gTXbV8A6Dqd1o2tWeq2chSe1mWVCD6Hp9D0Psa+/IWLQozdSoJrhxVBUmrbMY6iiiuUAooooAKKKKACiiigAooooAKZcTRW8DzzyLHFGpZ3Y4CgdzT68m/ao1S7074apBayFFv7xLaUg4JTazkfjswfY1dOHPJRANb+P3gfTr57WCPUdSVDgy2sS7CfYuy5+o4qj/AMNG+Dv+gPr3/fqL/wCOV8t0V6qwVIVz6k/4aN8Hf9AfXv8Av1F/8co/4aN8Hf8AQH17/v1F/wDHK+W6KPqVILn1J/w0b4O/6A+vf9+ov/jlH/DRvg7/AKA+vf8AfqL/AOOV8t0UfUqQXPojx78aPAHjDwdqnhnUdH14W9/A0W/yIWMbdUcDzOSrBWHuKPAXxo8AeD/B2l+GdO0fXjb2ECxb/IhUyN1dyPM4LMWY+5r53op/U6drC63PqT/ho3wd/wBAfXv+/UX/AMco/wCGjfB3/QH17/v1F/8AHK+W6KX1KkO59Sf8NG+Dv+gPr3/fqL/45R/w0b4O/wCgPr3/AH6i/wDjlfLdFH1KkFz6k/4aN8Hf9AfXv+/UX/xyp7D9obwTc3SQzWmr2cbHBmmhQqv1CMx/SvlSij6lSC5+gOlahZarp8N/p9zHc2sy7o5I2yrCivBv2TtYvm0XW9K83MFrNFLEG52+YH3Aeg+TP1Jory6tP2c3EZ4r8Rf+Sg+I/wDsK3X/AKNasGt74i/8lB8R/wDYVuv/AEa1YNe7D4USFFFFUBp6P4f17WY5JNH0PU9RSM7Xa1tHlCn0JUHFUr60urG7ktL22mtbiI7ZIpoyjofQg8ivRvBum6jq3wR8RWml6fd39wdVt2EVtC0jkBeThQTXbnR2vpoftEdpfazpmkafa6kjaZHqd0khkORsdwgwuA7tkgdMVhKtyt3GeB/ZLv7D9v8Ass/2TzfJ8/yz5fmYzs3dN2OcdcUWtleXaTyWtpPOlvGZJmjjLCNB/E2Og9zX0bPof2qa80HTNN0iPT7fxUzGKbTVlhRDaK4+VdpJLnCjcM8Lnb8tLa6QbLTmm0/Q4W1S68NXO+CbSYrVriVZV2LJbRkpu5A29+ARzio+s+QHzVRX0ZY+FbI6lHdJpOirOXsI9XtbfRY7swSlN0qlZHWO2ixjcwXcCT9KyNX8P2aaNq8Efh600uytjqBkvJtMiuIZFWYhStyrebBKq8JGQQeODmqWITCx4VRXtfxY0nQbHwffmx0FUs0e0/sjUI7G3hRgUG7E4l8y63Lk52HBHPqPFK1p1FNXAKKKKsQV+hFv/qI/90fyr896/Qi3/wBRH/uj+VedmH2fn+g0PooorzRhRRRQAUUUUAFFFFABRRRQAV4x+15/yT7TP+wqn/oqWvZ68Y/a8/5J9pn/AGFU/wDRUtb4b+LEGfLdFFFe4SFX9H0bWNZlki0fSb/UZIwGdbW3eUqPUhQcVQr0j4Ptap4Y8dNfQzT240pfMjhlEbsN/QMVYD/vk1FSTjG6A4PVtL1PSLoWurabeafcFQ4iuoGicqc4OGAOODz7VTr37TtO0PUBoX2W1e80iHQbltCW4jW8ne7LZljeNtsckic7Y8gYBI9iHSLCTX7y3sfBggvGSwW6kbSLS6FvIc7t9mJm8iNxgkqQV56cE5fWO6GeA0V75oXh/R20q0X+xdDu9FdNS/tvUVgXFvKjEJslbLxgYXYMjIOeamm8J6Yt/fal/YOnf2XcyaGLGUW0ZikDzRiXy8DBBBw2OueaPrCvsB8+0V7YtrLfJrdz4b8K6Dqeq2/iF7KSzbTYPKgslD7MrwEBbOZflJxjdxVzUtF8N2/gnzLfw7Bd6adIST7VDBbrEl55nJN+8wc/N8hjAbjGM0/brsB4PRXqnxk0xbbRIrxdFttGjOoGKK1k0qK2uFXygfkliYrcQ5/jIzuPWvK60hPnVwCiiirEe8fslf8AMzf9un/taij9kr/mZv8At0/9rUV4uL/jP+uhSPK/G9rPffE/XLK1j8ye41q4iiTIG5mnYAZPA5Peq0PhTXZvFY8LQWsM2rl2TyI7qJgGUEspcNsBAByM8Yx1rcvP+S7zf9jO3/pVWn4dvLXT/wBoK+u726htYI9S1DdLNIERcrMBkngckD8a9Tmajp2EchZeE/EF4NZNvp7P/Yis2o5lRfIC7s9T8x+VuFyeKxK+gL3xN4YPh/VpLfU7P7R4h0m5v7uIXEamObyI41g9nLGQhevJ4rT07xJocetefd+JNDk0R7uwbQLYXEebFVj/AHpKcGAbcqd2Mk4rP28v5QPmyivetO8VWOoWVhdXviDT/wC3gmrRWF1c3KZtZGbMJLHPlrjcFJ4HAFW9c1C8tZHgHiHTrHxbN4d07ydRnu441cCeQzBZmG3n5SefnHTOKr272sB4j4d8Na54hEx0XTpL3yGjSQIVypkbavBPPIP0AJOACafr/hfW9DtIrzULWH7LLI0ST291FcR+YvVC0TMA3sSD1r1zW/EGh2eubvDninTdNl1XW3uHu4oVkji8uERgSJ0CSStIdx4w27kc0zwzqOi6bqekzale6Bol5Pqk7Pa6RqZlsWja2dBLIoleOI7yoBBXg/dwCQvbS3sB4ZRX0T4Yf7H4Xh07S9e0ltTsfDV0rTwX0Tx20pmUrmQHavbDE4HXtT7HWNGXUo71PGVsL+N7CPVmttStrMXLxpmSZpSjNOvRSiHB59c0fWHroB4BeaVf2el2Op3FvstL8SG1k3qfM2NtbgHIweOQKpV9ER69psEdkg8TaImgxXWsNq1kLyJjcQySymFRGCTICDwB65qvpep6RbeDpLNvFGm3sR0m1NtFfahbi1E6yByv2ONA6FT95iSze5HB7d9gPn+pbSB7q5jt42iV5GCqZZVjUH3ZiFA9yQK9+j1/SR4ltr3VvENvLesl/wDY4H1i3uo7WV8bHju1j/cIeQquDt4OK80+MWpQ6lrOnShrSS7j0+OO5lh1Jb15GGcebKkaI0gBwSu4cDmrhVcnawHKa5pd9ouq3Gl6nCILu3bbLGHV9pxnqpIPBHQ1992/+oj/AN0fyr4n+NH/ACU/W/8Arqn/AKLWvti3/wBRH/uj+VcWNd4wf9dAQ+iiivPGFFFFABRRRQAUUUUAFFFFABXjH7Xn/JPtM/7Cqf8AoqWvZ68Y/a8/5J9pn/YVT/0VLW+G/ixBny3RRRXuEhWpoOgapri3j6bBFIllD59y8lxHEsaZxkl2ArLrvPhh/wAix45/7A3/ALUWpnJpXQzlRoWqtocWtx2hksJbj7Mskbq5EvXYyg7lJ7ZAz2pmv6PqGg6k+m6pCsF2ihniEqOUyMgHaTg47Hkd67L4J69FpOralb39xZJYS2TziO8KiM3MWHhYZI+YMOPWuu8CeIrFvDekzXev6bBYg6jJ4ms7mZBNeySAlD5ZAaYnK4xnGMZ4rKVSUW9APFLWCW6uYraBd8srhEXIGWJwBz71PrGnXmkapcaZqEPk3ds5jlj3BtrDtkEg/ga920zWdHgMmuR+JNKiR/D1jbRAXyLOJY5BvXZnepUDPI5zxnmr11q2l6h4ltZ5vFOjMll4oa8eSXVIiBbGHCFSW+YZAXC5K55A5qfrDvsB8/6ro+o6XBZTX1v5Md9ALi2O9W3xk4DcE46dDg1Qr6H1jxFpLadH9q8Rabc6AuhXUN1YRXsbSS3DSfux5YbczdCGx8uDyM84fxY1/R7zwff22n3WnXOnTPaHS4v7Vjke2CoM+VbJDugG3KsHcc9Mk4LjWk2lYDya+0LU7PRbPWp4YvsN4zJBKlxG+WXqpVWJUjI4YCs2u21j/kjOgf8AYVuv/QUria2g20AUUUVQj3j9kr/mZv8At0/9rUUfslf8zN/26f8AtaivFxf8Z/10KR5R4+llt/iR4gngkeKWPWLl0dGKsrCZiCCOhBrH1LUL/U7trzUr25vbl8bpriVpHbHTLMSa9U/aB+HOr6T4rvdf06xnutKvpDOzxIWMLn7wbHQE5OenOPr5Ea9alKMopoQUUUVoIt6VqepaTd/a9K1C7sLjaV822maJ8HqMqQcUzUL281G8kvdQu7i8upCDJNPIZHfAwMseTwAKr0UWV7gFFFFAE9re3lok8drdzwJcRmOZY5CokQ/wtjqPY1BRRQAUUUUAFS2lxcWlzHdWs8tvPEwaOWJyrIR0II5BqKigCe/vLu/u5Ly+up7q5lOZJppC7ufUseTX6A2/+oj/AN0fyr40+Enw71jxd4htHexmi0iOVXubmRCqMoOSqk9SenHTP5/ZqKERUHRQAK8vHSi2oroNC0UUVwDCiiigAooooAKKKKACiiigArxj9rz/AJJ9pn/YVT/0VLXs9cT8avB8njTwNcabakC9hcXFruPBdex+oJH41rQko1E2B8VUVd1nSdT0a9ez1WwuLOdDgpMhX8R6j3HFUq95O5IVc0vVdU0ppW0vUryxaZPLlNtO0Zdf7p2kZHtVOihq4BRRRQAUUUUAFFFFAFy71TU7uxt7G61G8ntLYYt4JZ2aOL/dUnC/hVOiigAooqexs7y/uUtrG1nup3OFjhjLsT7Ac0Ae4/slf8zN/wBun/taiu+/Z9+H9z4W8KzzaxGYtR1CRZJIg3+rRQQqnHflj+NFeHiZKVVtFHqjKrAqygg9iKb5MP8AzyT/AL5FPorABnkw/wDPJP8AvkUeTD/zyT/vkU+igBnkw/8APJP++RR5MP8AzyT/AL5FPooAZ5MP/PJP++RXL6kAvxX0CEDET6HqjMg+6WE9gASPUbmx9T611dcpqn/JXfDv/YA1X/0o0+mhM6jyYf8Ankn/AHyKPJh/55J/3yKfRSGM8mH/AJ5J/wB8ijyYf+eSf98in0UAM8mH/nkn/fIo8mH/AJ5J/wB8in0UAIiqgwihR6AYpaKKACiiigAooooAKKKKACiiigAooooAKKKKAGtFGzbmjQn1K0nkw/8APJP++RT6KAGeTD/zyT/vkUeTD/zyT/vkU+igBnkw/wDPJP8AvkUeTD/zyT/vkU+igBnkw/8APJP++RR5MP8AzyT/AL5FPooAZ5MP/PJP++RR5MP/ADyT/vkU+igBnkw/88k/75FHkw/88k/75FPooAZ5MP8AzyT/AL5FAiiBBESAjodop9FABRRRQAUUUUAFFFFABRRRQAVymqf8ld8O/wDYA1X/ANKNPrq65TVP+Su+Hf8AsAar/wClGn00JnV0UUUhhRRRQAUUUUAFFFFABRRRQAUUUUAFFFFABRRRQAUUUUAFFFFABRRRQAUUUUAFFFFABRRRQAUUUUAFFFFABRRRQAUUUUAFFFFABRRRQAUUUUAFcpqn/JXfDv8A2ANV/wDSjT66uuU1T/krvh3/ALAGq/8ApRp9NCZ1dFFFIYUUUUAFFFFABRRRQAUUUUAFFFFABRRRQAUUUUAFFFFABRRRQAUUUUAFFFFABRRRQAUUUUAFFFFABRRRQAUUUUAFFFFABRRRQAUUUUAFFFFABXKap/yV3w7/ANgDVf8A0o0+urryXWvid4Bg+I2napceJ7KG303SdXtbxZdySxTC5sR5ZiI3ljsfACnOxiM4NVFNkyaR61RTYZFmhSVN211DDcpU4PqDyD7GnVJQUUUUAFFFFABRRRQAUUUUAFFFFABRRRQAUUUUAFFFFABRRRQAUUUUAFFFFABRRRQAUUUUAFFFFABRRRQAUUUUAFFFFAEF9eWljbPc3tzFbwIMtJI4VQPcmsL/AIT/AMD/APQ4aD/4Hx/418u/H3xfqHiPx3f2LzSLp+nTtbwwZ+UMh2sxHc5z+H4151XoU8DzRTkxXPub/hP/AAN/0OGg/wDgfF/jR/wn/gb/AKHDQf8AwPi/xr4ZorT6hHuFz7m/4T/wN/0OGg/+B8X+NH/Cf+Bv+hw0H/wPi/xr4Zoo+oR7hc+5v+E/8Df9DhoP/gfF/jXiHizwZ8Pda/aC0zxwPF3hsaKVF1qNudQiy91FgR/LnlW+Un/cfP3hXhFFOOCUdpEySlufc3/Cf+Bv+hw0H/wPi/xo/wCE/wDA3/Q4aD/4Hxf418M0UvqEe5Vz7m/4T/wN/wBDhoP/AIHxf40f8J/4G/6HDQf/AAPi/wAa+GaKPqEe4XPub/hP/A3/AEOGg/8AgfF/jR/wn/gb/ocNB/8AA+L/ABr4Zoo+oR7hc/QDStU03VbYXOmX1teQE4EkEgdfzFW6+Gvht4t1Dwf4otdTtJ5Fg8xRdQg/LLHnkEeuM4PY19xxtvjV8Y3AHFceIoOi1roMdRRRXOAUUUUAFFFFABRRRQAUUUUAFFFFABRRRQAUUUUAFFFFABRRRQAUUUUAFFFFABRRRQAUUUUAfCXxF/5KD4j/AOwrdf8Ao1qwa3viL/yUHxH/ANhW6/8ARrVqfBSztL/4naPaX1tb3Nu5m3xXEQkjbELkZUgg4IB6dq99S5ad/IRxtFe1W3hix8Q6FoNhqF1olzcavqjfZtT0bTFt0igjjJkjkIii+c4OAynHXpWTP4B8My3EE+mXF3ewC2uZLqzg1qxkeAxkeW73AIjjjYHJJBIxjBzxKrx6geV0V9F+D/AvhfSdSmtZtNj1KCWXT5o/tRhuHj81X3J5gXa65HYAEfnXO6n4L8JyeFJPEF6upR21rbTTpbWpt43P+klApkEOW4xy2cduOKlYiLYWPFqK9qm+E/hq71eTTNM1DVoHtdVitLiW5eN1eN4TKdoCrtIGBkkgnnArh/iJ4d8P6Paafd6FqSSmdpUuLRtSt7ySIqflfdBxtYc4IyD61ca0ZOyA42ivV7H4c+HdYvdNttFutRmtbi5ijk1NLq3nhZDCZHDRLiS3fIKgSZ6c0/8A4QPwS3nXseqXUttbaZd3dxZW+r2lzOrQumw+ZErKFdWPVcg+tL28QPJaK9d074feHVaw1tbjURpt6NONiHeGRjPPMVkjcNHtcIFJxtwe+eRWZ4n8I+HdGeNdUm1OS81a5vBZSWhhWKDZN5cYkj2jdk5J2lAowAppqtFuwHmtFewat8OPA+mX5stQ8TGwe1vYYJ2k1K1ka4RlG5liX54MOcfOGAHzHjOOE8e6Ha6Nc2Bs7O/tobq2EuLi6gukY7iCY54fkkXp2BBpxqxlsBzVfoRb/wCoj/3R/Kvz3r9CLf8A1Ef+6P5VxZh9n5/oCH0UUV5owooooAKKKKACiiigAooooAKKKKACiiigAooooAKKKKACiiigAooooAKKKKACiiigAooooA+EviL/AMlB8R/9hW6/9GtWfoOrahoeqw6ppdx9nvIN3lybFbbuUqeGBHQntWh8Rf8AkoPiP/sK3X/o1qwa+hirxRJs6L4o17RrE2Omai9tAblLoKqKSsq9HViMqccHBGRwcitJviJ4uaUP/aUATypITbixtxbskjbnDQhPLYseSSpJrlKKHCL3QzrW+JPjRrr7SdZxLmI7hawj/VE+XxsxxuP8jVa/8c+KL7TJtNuNRjNnMhjeFLWGNSpfeQNqjHzc8Yrm69A8JXFxb/BrxgbeeWEyXVpG5Ryu5GLAqcdQR1FRKMY62AxH8d+LHuJrj+2JFmnuo7uR0ijUmWNdqNkLxhRjA4PcGqXiLxNrXiBII9Uukkity5iiht44I1LHczbI1VcknJOMmu8+GGmf8Jt4HuvCkhBk07U4L2JmbGyBzsmx7AfN+NeiaVqtnq6Nr0cH2iGWPVILdJLiUxLBFGqptQMFXKgZIGeevQ1lKpGD+HYDw258feLLhoXbVtkkMyTiWG3iikeRF2q0jooaQgcfOTSXvjvxVeRyRTakixSW0ts0UNpDFH5crBpPkRAoLEZLAbveu+8a+EPB2m+HtShtbdVvbXTra7hnt0vZJC78t5pKmBY2zhSCD8vJNclLcXEvwOhhlnlkjh8QlYkZyVjBtySFHYZJPHcmrjKEkmogYcHirxBDpemaZHqLCz0u6+2WUXloRFNndu5GTzng5HPSrcfjvxVHaT2yaoAszTMX+zxeYnnHMoR9u6MMeSFIFc1RWvJHsB1n/CxvGeYmXWSjRyLKXS2iVpWVNgMrBcy/Lx8+6sXXtc1LXJYJNRmjcW8YihjigjhjjTJOFSMKo5J6Cs2ihQitkAV+hFv/AKiP/dH8q/Pev0It/wDUR/7o/lXBmH2fn+gIfRRRXmjCiiigAooooAKKKKACiiigAooooAKKKKACiiigAooooAKKKKACiiigAooooAKKKKACiiigD4S+Iv8AyUHxH/2Fbr/0a1YNdt8bvD97oHxI1ZbqNvKvLh7uCTHyush3HH0JI/CuJr6Cm04JokKKKKsArb0nxJc6f4a1TQBZWdxa6kUaRpQ++NkztZCrAZGe4I9qxKKTSe4FrTtR1DTZXm06+urOSSMxO8ErRlkPVSQeQcDip7DXtc09IUsNZ1G0WAs0IhuXQRlvvFcHjPfHWs6iiyA0rrxBr13pq6Zda1qU9ipyLaS6dogc5zsJx19qll16d/CMPhpbO0jto7s3jTKH82SQqV+bLFcBTjAUdB71kUUcqAKKKKYBRRRQAV+hFv8A6iP/AHR/Kvg7wdoN54l8SWWi2MbPJcSqrEDhEz8zH2Ar7yiUpEinkhQDXm5g1eKGh1FFFecMKKKKACiiigAooooAKKKKACiiigAooooAKKKKACiiigAooooAKKKKACiiigAooooAKKKKAMXxh4f0XxBpT2+s6bbXsajKiVMlT6g9QfcVwQ+D/wAOjz/wjv8A5O3H/wAXRRVxqTitGAf8Kf8Ah1/0Lv8A5O3H/wAXR/wp/wCHX/Qu/wDk7cf/ABdFFP21T+Z/eAf8Kf8Ah1/0Lv8A5O3H/wAXR/wp/wCHX/Qu/wDk7cf/ABdFFHtqn8z+8A/4U/8ADr/oXf8AyduP/i6P+FP/AA6/6F3/AMnbj/4uiij21T+Z/eAf8Kf+HX/Qu/8Ak7cf/F0f8Kf+HX/Qu/8Ak7cf/F0UUe2qfzP7wD/hT/w6/wChd/8AJ24/+Lo/4U/8Ov8AoXf/ACduP/i6KKPbVP5n94B/wp/4df8AQu/+Ttx/8XR/wp/4df8AQu/+Ttx/8XRRR7ap/M/vA7LwL4U8O+HLRv7E0i2s2ckM6gl2HuxyT+ddLRRUNtu7AKKKKQBRRRQAUUUUAFFFFABRRRQAUUUUAFFFFABRRRQAUUUUAFFFFABRRRQAUUUUAFFFFABRRRQB/9k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8" name="AutoShape 6" descr="data:image/jpg;base64,/9j/4AAQSkZJRgABAQEAYABgAAD/2wBDAAUDBAQEAwUEBAQFBQUGBwwIBwcHBw8LCwkMEQ8SEhEPERETFhwXExQaFRERGCEYGh0dHx8fExciJCIeJBweHx7/2wBDAQUFBQcGBw4ICA4eFBEUHh4eHh4eHh4eHh4eHh4eHh4eHh4eHh4eHh4eHh4eHh4eHh4eHh4eHh4eHh4eHh4eHh7/wAARCAHDAV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ufj18W9Zi8RXXhrw1eGztrU+XcXEeN8j45UHsB045yD26+Sf8Jp4x/wChs17/AMGMv/xVHxG/5KD4j/7Ct1/6NasGvdpUoRgtBG9/wmnjH/obNe/8GMv/AMVR/wAJp4x/6GzXv/BjL/8AFVg0VpyR7Ab3/CaeMf8AobNe/wDBjL/8VR/wmnjH/obNe/8ABjL/APFVg0UckewG9/wmnjH/AKGzXv8AwYy//FUf8Jp4x/6GzXv/AAYy/wDxVYNFHJHsBvf8Jp4x/wChs17/AMGMv/xVH/CaeMf+hs17/wAGMv8A8VWDRRyR7Ab3/CaeMf8AobNe/wDBjL/8VR/wmnjH/obNe/8ABjL/APFVg0UckewG9/wmnjH/AKGzXv8AwYy//FUf8Jp4x/6GzXv/AAYy/wDxVYNFHJHsB678IvjB4g0nX7TTtf1CXUNKuJVjdrg7pISxxvDdSPXOeOnv9WqwZQynIIyDX56iv0It/wDj3j/3R/KvMx1OMWmluCH0UUVwjCiiigAooooAKKKKACiiigAooooAKKKKACiiigAooooAKKKKACiiigAooooAKKKKACiiigD4S+Iv/JQfEf8A2Fbr/wBGtWDW98Rf+Sg+I/8AsK3X/o1qwa+hh8KJCiiiqA77wJ4Osta8E6prsmla7q95aXccEdnpkoRmVhksf3Uh4+lR23w81DVohe2HlaVHPfnT7aw1GaRrozhclWKwqo/iOWCgYweeuNY+JfsvgLUvC32Lf9tu4rn7R5uNmwfd245z65FaHhvx5caFpGj2drp6PLpmqNqAleU4kDJsKFQOOM85/CsWqmrQy7b/AAq1u6uI1tNW0S4tHS4Y3qTS+SjQHEiHMYbI6j5cEcgmpLj4dQaf4V1zVNQ12ykmtbO1vLFrVpGimjmcqCcxZ5wVA+XB+9gc1OnxPtrW1fT9M8ONb2DxXgaOS+8yQy3HV9/lj5VHAXGcdTWdd+PYbvw1caJPo8myXSLTTxIl2AVe3dnWTBQ5BLcrxwPvc1P71gUfCngXVPENhFexXun2MVxd/Y7T7Y7qbmbbu2JtRh07tgZIGc1fu/hhrdro7X9xqOkJMunyagbIzSef5MZw5+5syD23fTNO8E/ESbw/4fXRZ7bUpreK7N1EbHVZLEklcFJCikumcHgqQR1p9z8SZZ2EjaWwl/sKbSS4u2J3SNu83LAtwexJJ/vU26vNpsA/Uvh5Fo/gnW9S1TU4H1nTza5srWfd9nExHyzAp97B42sRwea8+rvvEvxCtdZ0TV7f/hHzb6lrItTfXgvSyM8GMFYynyg4PG49etcDV0+az5gCiiitBBX6EW/+oj/3R/Kvz3r9CLf/AFEf+6P5V52YfZ+f6DQ+iiivNGFFFFABRRRQAUUUUAFFFFABRRRQAUUUUAFFFFABRRRQAUUUUAFFFFABRRRQAUUUUAFFFFAHwl8Rf+Sg+I/+wrdf+jWrK0qKOfVLSGVd0ck6KwzjILAGtX4i/wDJQfEf/YVuv/RrVk6bMttqNtcSBikUqOwXrgEHivoI/AhHos3h3QJfj7F4XTSYodIW8Fu1uk0vzrtzkszlsn2IFX9c8EWdxo8sSaJo+kahdaullostjqb3C3Q3MsglzLKF2jBJ+U54x2PMeIfGNuvxTk8aeHklkzOLiOO/gC7X24KkI5yPfI+lUdM8ca1p9rf29uLbbd3q36llYm2uFbIkj54PYhtwIGCKy5ajs0+iA6fWvhM+nXNiG1XUBbT38ljI02iTJNvVSwaKJSxmVgDggjpzjnDNT+Ff9m2rapfarfWulR6eLyYz6X5d3GxfYIzAZMZJ77x/jlxfEjULfWYtVsdA8PWU4eZ5/JtGH2kyrht7Fy4HJIVWUAnOKdJ8TNUeyj006Jon9lpZmyNiI5hE8e7cMt5m/cD0YMDyc5otW01A6Sx8C+EbzTPC40+/lv3vdWmjnvPIeFJ7eMb3GGfKYUHkLnOfQE1re18J33gm61u08I6XE/8Abq6dbs8184WFlyHZVm3M4z2HP92sQfE3WE02axt9J0O2R/PELQWzR/ZxMoVxGofaOAOSCeuScmsrw/4z1bQ9Hi0yxjtfLi1JNSV3Ql/NQAAdcbcDpjPvS5Knf8QO4svhRHDc2c73V1JBcSXMPlarpEtqxMcRcSKgmDFTjgkr7r1FXNe+Een32uW/9jX40+ykURzp5TS+RJ5CODkvk7y+O2PeuWHxV1mMp9l0bQ7VVuJ7krHHMd0kyssjEtISc7ievGBjjioZPil4mY35RLCI3v2feUibMZhwAUyxxuCgN19sUuWte9wOi8P/AAnS90+O1udShgvbhbR5GktHZ7Xzt52DEwVuFGcqevGKyz8NLGRLe/tfEry6QbS8urm6fTyrxLbOEYLGHIcsWGPmXjJ7YqtafFbxJb6vf6ottprzXtxFO6vHJsQxKVVVAfhcHpz9aztO8faxZW9lbLaadNbW0V3C8MsTFLiO5YNIkmGBxkAjaVIx1NNRrdwNLxvo/h3SPGPhyHSbNLrTbzT7S4kWZpVFwZCQWI37lyMHAYYrA+I2n2ek+OdY03T4fItLe6ZIo9xbao7ZYkn8TU+qeKP7f8T6XqOr28FhbWMcVusenW5ISKMkqFR35POPvCqXjvVrbXfGGqaxZpKlvd3DSRrKAHAPqASM/ia0gpJq/YDFr9CLf/UR/wC6P5V+e9foRb/6iP8A3R/KuPMPs/P9AQ+iiivNGFFFFABRRRQAUUUUAFFFFABRRRQAUUUUAFFFFABRRRQAUUUUAFFFFABRRRQAUUUUAFFFFAHwz8VLO4sfiR4hhuYzHI2ozSgH+67l1P5MK5qvsv4pfCrQvHTreTSSWOpIu1bmIA7h2DA9R+R9682/4Zpl/wChyT/wXH/45Xr0sZT5VzOzFY+faK+gv+GaZv8Aock/8Fx/+OUf8M0zf9Dkn/guP/xyr+t0e/5hY+faK+gv+GaZv+hyT/wXH/45R/wzTN/0OSf+C4//AByj63R7/mFj59or6C/4Zpm/6HJP/Bcf/jlZtz8ADD4osNBPizMt5ZXN4sg075VWF4EKn951P2hcf7pp/W6Pf8wPD6K+gv8Ahmmb/ock/wDBcf8A45R/wzTN/wBDkn/guP8A8cpfW6Pf8wsfPtFfQX/DNM3/AEOSf+C4/wDxyj/hmmb/AKHJP/Bcf/jlH1uj3/MLHz7RX0F/wzTN/wBDkn/guP8A8co/4Zpm/wChyT/wXH/45R9bo9/zCx4Jp9pPf39vY2yF57iVYo1HUsxwB+Zr9AYARBGCMHaMj8K8x+GXwX0LwfqCarc3UmqalHnypHQLHH7qvPPuSa9RrgxdeNVrl6AgooorkGFFFFABRRRQAUUUUAFFFFABRRRQAUUUUAFFFFABRRRQAUUUUAFFFFABRRRQAUUUUAFFFFABRRRQAUUUUAFFFFABXKap/wAld8O/9gDVf/SjT66uuU1T/krvh3/sAar/AOlGn00JnV0UUUhhRRRQAUUUUAFFFFABRRRQAUUUUAFFFFABRRRQAUUUUAFFFFABRRRQAUUUUAFFFFABRRRQAUUUUAFFFFABRRRQAUUUUAFFFFABRRRQAUUUUAFcpqn/ACV3w7/2ANV/9KNPrq65TVP+Su+Hf+wBqv8A6UafTQmdXRRRSGFFFFABRRRQAUUUUAFFFFABRRRQAUUUUAFFFFABRRRQAUUUUAFFFFABRRRQAUUUUAFFFFABRRRQAUUUUAFFFFABRRRQAUUUUAFFFFABRRRQAVymqf8AJXfDv/YA1X/0o0+urrlNU/5K74d/7AGq/wDpRp9NCZ1dFFFIYUUUUAFFFFABRRRQAUUUUAFFFFABRRRQAUUUUAFFFFABRRRQAUUUUAFFFFABRRRQAUUUUAFFFFABRRRQAUUUUAFFFFABRRRQAUUUUAFFFFABXKap/wAld8O/9gDVf/SjT66uvlnxt4u+Len/AB9tfBNnPZTX863FtpOpyWal0s7qSKQyFRhGMQtsZK87XyDxi4RuyJysj6mopsKtHCiPI0rKoBdgAWPqcADJ9hTqgsKKKKACiiigAooooAKKKKACiiigAooooAKKKKACiiigAooooAKKKKACiiigAooooAKKKKACiiigAooooAKKKKACiiigDyX4xfGO28G37aLpdml9qoUNKXbEcGRkZxyTjnHHBzn18v8A+GiPHH/PjoP/AIDyf/HK8/8AiZLJN8RPETyuXYancJknssjKB+QFc9Xs0sLTUVdXEew/8NEeOf8Anx0H/wAB5f8A45R/w0R45/58dB/8B5f/AI5Xj1FafVqX8oHsP/DRHjn/AJ8dB/8AAeX/AOOUf8NEeOf+fHQf/AeX/wCOV49RR9Wpfygew/8ADRHjn/nx0H/wHl/+OVQn+OHiSfXbbXZtC8NPqdrC8EFybWTekbkFlB8zvtH6+pz5bRR9XpfyiPYf+GiPHP8Az46D/wCA8v8A8co/4aI8c/8APjoP/gPL/wDHK8eoo+rUv5RnsP8Aw0R45/58dB/8B5f/AI5R/wANEeOf+fHQf/AeX/45Xj1FH1al/KB7D/w0R45/58dB/wDAeX/45R/w0R45/wCfHQf/AAHl/wDjlePUUfVqX8oH058KfjoviDWINE8SWMNndXLBILiAny3c9FKnlSe3Jz/P2+vz3t5ZIJ454WKSRsHRh1BByDX6C2//AB7x9/lH8q87GUY02nHqCH0UUVxjCiiigAooooAKKKKACiiigArN8Ua5p/hzQrrWdTl8u1tk3Oe57AD3JwB9a0q8b/a4lkj+HdiiOVWXU0RwD94eXI2PzArSlDnmogcPrf7RniKS+c6Lo+nW9rnCLdBpHI9TtZQPpz9ao/8ADRHjn/nx0H/wHl/+OV49RXsLDUv5RHsP/DRHjn/nx0H/AMB5f/jlH/DRHjn/AJ8dB/8AAeX/AOOV49RT+rUv5QPYf+GiPHP/AD46D/4Dy/8Axyj/AIaI8c/8+Og/+A8v/wAcrx6ij6tS/lA9h/4aI8c/8+Og/wDgPL/8co/4aI8c/wDPjoP/AIDy/wDxyvHqKPq1L+UD2H/hojxz/wA+Og/+A8v/AMco/wCGiPHP/PjoP/gPL/8AHK8eoo+rUv5QPYf+GiPHP/PjoP8A4Dy//HKP+GiPHP8Az46D/wCA8v8A8crx6ij6tS/lA9h/4aI8c/8APjoP/gPL/wDHKnsP2i/FqXSNfaTpE8APzpCjxsR7MWbH5V4vRS+rUv5QPur4f+LtM8Z+HYtZ00sqliksT/eicdVP5j8CKK8Q/ZMllaDxJB5jiNGtnVQcAEiUE/8Ajo/KivJr01TqOKGeRfEX/koPiP8A7Ct1/wCjWrBre+Iv/JQfEf8A2Fbr/wBGtWDXtw+FEhRRT4FSSeNJJREjMA0hBIUZ5OBycVQG9eeENXtfBlr4rkEJsbmXywiljKgJYK7DGArFGAOece4rY1D4a6laXt3pq65otxqdrZm8ksojP5hjChjhmiCE4Ocbq6S/8Y+Eb671XwwqWttoLaQljZ6mY7hpWeEboiyZIA3luiA88msv4nfECa98R3n/AAjV9bCwuLOO3e4i0+OOd12KHQylBLjIxjOPwrnUqjdrDOS1fwtquneLv+EW2xXWomSKNFgY7XaRVZQCwH94ZJwBz9av634Gv9OsL+8t9U0rVRptyttfR2Ukhe3djtXIdF3AsNuV3DNWPHOt6PqXxTk1qC6vJNMMtsxntMxTAJFGrFN44YFTjI6j8a62Pxd4btLtdU1zVtP8UX0WqW01lcW+mGG6jhjb5nnkaJPMOwAbSX+YA57huc0k7AecP4T8UpexWT+GtZW6lQyRwmxlDuo6sF25IGRz71BceH9etp54LjRNShlt4fPmSS1dWji/vsCOF9zxXsh+IHh20S8t4da00wzpqE0P2OxvMrJKMLueZydz5yVVAoIPzeuFpvxA0Wz8AaUrkya7E1vY3UaQkE2UMxlHzEbTkYXGfypKrU/lA89l8L+Jop7WCXw7q8ct3n7MjWUgabAydgx83HPHas/ULO80+8ks7+0ntLmI4khnjKOhxnlTyODXun/CxPDUPiOO6Gtaa1nLqk19iCwvDLFut3RWdpXIVssFKxoV4zkDivBWZmYszFmJySTkk1dOcpbqwCUUUVqIK/Qi3/1Ef+6P5V+e9foRb/6iP/dH8q87MPs/P9BofRRRXmjCiiigAooooAKKKKACiiigArxj9rz/AJJ9pn/YVT/0VLXbfEz4iaP8Pf7LufENterpd/M8D38Me+O2kABUOoO7DDfjaCfkPFecftN65o/iH4V6Rqeh6la6jZyaqm2a3kDrnyZcg46EdweRXRh0/aRYrrY+bKKKK9sQUUUUAFFFFAG54J8Maj4t1r+ytNktopRE0rSXDlUVQQOSATySAOOpFI3hjUo/D2oa1N5MUWn3q2U8LsfNEhz2xjAwc81u+DfEWkeGvBepyLHDf61f3MUQtZfOVI4Izv3loyhyXA4D9hkYzW94/wDFHhbU/COrLpd/m+1e8tb+W08iRfKkEZEq5K44bn7xznqaxc581raDPKaKKK2EFFFFABRRRQB7x+yV/wAzN/26f+1qKP2Sv+Zm/wC3T/2tRXi4v+M/66FI8l+Iv/JQfEf/AGFbr/0a1O8OeH7bUvDuva1dahNax6THCwjithKZWlcoo5ddozjJ547U34i/8lB8R/8AYVuv/RrVq+C3gf4f+M7BryzhubiOzaGOe5jiMoSYs23eRuIA6DmvVu1BW8hEfh/wNc634A1TxRZ3gaawn8v7D5XzSoFDO4bd1AJO3HQGp9S+G+tLqwsNH26iBY293NNI0dskXnD5ULSPtzngc5PpTfC3jZvDvha2s7FZxqMGtrqGSB5UkPkmNo2Oc85IIx0PXNdTrnxF8Ja1NqVhPZazZaRdQ2XlGCONpontzyuC4BUg4B3AjGcVDlVUvIDnPCXwv8S61rK2d9bPpNsLmS2mnn2blkRSxCxl1aToM7cgA5rMfwH4mXTm1Maa7WKgPvEkfm+UX2CXyt28IT/ERjvnHNehH4r+GtR1yz1bVbDVrd9M1Ca4tI7ZI5BLG6BAJCzKQwxnjOenvVY/EPTtat4YIWubLU5bBdNKG2sooWQNyz3coMioV5KcfN0Ydannq32A4/V/h14ls57vybB2gg8wr580Ec8ixqDIViErF9uedhb+lX4fh/p0PhV9f1TxDcQLFY215NBbaeJnVbiRkjHzSoD93P0P59R408aeD5de1e3vJLzWbYyTrHB9lt57fc6qA8E5IkhwVyQuQxGcjNZqfEfTXvPFHlX+v6NHqUdnDp1xZRK01tFBn5SBKmMjjhj1NCnVaQHFx+GJ9VYy+FVvNVtVlit3aaGKCVZZDhQYxK5Cn++TjOemKtD4d+MDp7X66SjwBZWBS7hZpBGSHKKH3PjB+6D2PcVu6F440zQ9Uu9UbUvEXiO8vI0tZZb8eQyWxz5mCJpCz4wFyQBya338VeDdC0XwrqFrcX2oXem2l6lnbL5XBkYqv2jD5jODngNn2xVSqVE9EBwj/DnxelyLeTTbdJPIFw4bULcCOM4wzkyYQHPG7Ge2abH8PPGDz3EB0gRywTm3ZJrqGNnkC7ysYZx5h28/Jniutf4laRNreuu0N7DZapYWtusr2UF08TwgdYZSY3UnPUg9COadL8RPDt5d3L6s2t6jaGbctneafZSxzoIti8qqG2fP8Ue7gDrijnq9gOEvvB/iGx0T+2LqxSO0Eccrf6TEZESQ4RmiDb1DHoSoFFzoVsnge28SQX80jyXzWU1u9uFCMED5Vw53DBHVV71v694q8P6h4PawMN9e6j9ngit2vbODdZlCS+25QiWRMHCo449TiqV00MPwftLVruza5l1t7hYEuUeUR+Qq7mRSWXkEfMBVqUtL9wOPr7gHw6+H04E03gTwvLLJ8zu+kwFmY8kkleTXw/X6EW/+oj/3R/KuPHtrl+f6BZM5f/hWvw5/6EDwp/4J7f8A+Io/4Vr8Of8AoQPCn/gnt/8A4iurorzuZ9w5V2OU/wCFa/Dn/oQPCn/gnt//AIij/hWvw5/6EDwp/wCCe3/+Irq6KOZ9w5V2OU/4Vr8Of+hA8Kf+Ce3/APiKP+Fa/Dn/AKEDwp/4J7f/AOIrq6KOZ9w5V2OU/wCFa/Dn/oQPCn/gnt//AIij/hWvw5/6EDwp/wCCe3/+Irq6KOZ9w5V2OU/4Vr8Of+hA8Kf+Ce3/APiKP+Fa/Dn/AKEDwp/4J7f/AOIrq6KOZ9w5V2PI/iZ8CfCvi7+y7LTtP0bw3p8EzzXz6bpUMd1ccAIiyADavLk5DAnbxxXIfHzwP4Y8CfCbTdM8M6YlnE+rxtM5YvJMwhl+Z2PJ78dBngCvouvGP2vP+SfaZ/2FU/8ARUtb4eTdSKuLlSd7Hz74g8OW+k+FdC1g6hLNcaskkgt/s4VIkRip+feSTnHG0fWrifDbxo1rDcLpCFJ0jkjH2yDcUkICPt35CkkDcRgd8Va8cTW1z8PfBht7yzme1t54p4kuUMsTNIWG6MHcBgdcYrrvEvizw/p5hl0u5mvNcu/DltpiNHLH9mt84LM0m/5XBHKlQBjJI5r03OdlbzGcf4Q+G+ta5c3kd0yaZDbC5QyzPH800IBaMAuvHOCwyB+FO8TfDTXtKtIr6xT+1LQ2cFzK8JTfH5nGPLDl2UE43gYP4V2Pibx9otp48iDt51hFpU8Fw+nbJx9quFzK6ncquM7Rwe3WsyP4l6PbajcXcNpqEv8AxJLWwhWREXMsLhiW+Y4U49zz0qVOq3ewHLTfDfxpFeWlm2jZnu5WhiVbqFsSKhkKMQ+EbaCdrYNS6f8ADvWj4istL1kJpsFzby3X2tHjuY1hjUlmBjfB5GMZHJFdpa/FHwvp2qy3Wn2usvHf6pJqN550cYaImB41SPD4b5myWO3gdK59fHWjxeAIdIhtb/8AtaLSpdOWUqoiCyzB5Dndn7oA6etPnqvoBXl8B6XP4f0nUdH1jV9QudZklhsLT+yY0ZpIzg72+0EIvfdzgZJrMX4deMGvPsq6XGT9mN0JBeweSYg20uJd+wgHrzx3rf8ACXxE0/QdM8KW/wBjuppNKmu/tfypgxzE8x5JywBzhgAcY75qe8+IWjDSb7S7ZtUngk0iezgLWFpaIkssgY4igACpheSWckk8Du+aqnYDmh8OPGX2uW1bSUjljkSIeZeQIsrum9VjZnAkJXnCE1VXwR4pOhNrf9kutksTzEtKiyeWpwz+UW3lQerbcV3UnxE8K3c8DX0WrS2scVsktjNYW1zbz+XEUOA7Zhck/wCsQ528Y4qtb/ETw/FpcF1Hp+ow6va6NNpMFsoVrXa5+Vy+4Pwp6bTk96Oer2Ap6D8JtWuJL9NevINJe0SFvKjmtriU+Y20bk85dg5zzyewJwKy9U+GviaC71JdPsmvrOynmiWfckbziL77RxFtz477Q2OldAfiNop8UeJtUNrqJh1VrIwDy03KIWQtu+bA4U4wT26Vem+J3hmfV7bW5bHVxe6VcX0mnwokQinFxkr5rbsoQWOdobOOtTzVr7AcFL4F8VRCcvpLAQTQQSETRkb5seWAQ3Odw5GQM84qTw34S/tLV9X0e/vHsL7TraabYkSzozRA7kLBwB0xkbq7rQ/izpFnpmkW95p19cTW1nsunIQ+ZPH5fkMCWyQPLGSeeTwa5X4W3cY1rXNS1G+tIA+l3QZ7i4jjMkkinAUMQWJPZQavnqWd1YD0D9kr/mZv+3T/ANrUUfslf8zN/wBun/taivMxf8Z/10Gjyb4jqV+IXiPcCM6pcn8DKxFYFfS3xw+DN74g1mbxJ4ZaH7VMAbm1kO3zGAxuU9M4AyDjPXOevlP/AApn4l/9Cy//AIFwf/F16VLEU3BaiPP6K7//AIUz8S/+hYf/AMC4P/i6P+FM/Ev/AKFh/wDwLg/+LrT21P8AmX3gcBRXf/8ACmfiX/0LD/8AgXB/8XR/wpn4l/8AQsP/AOBcH/xdHtqf8y+8DgKK7/8A4Uz8S/8AoWH/APAuD/4uoJPhN8QI9Rh05/D5W7nhkmiiN5BuaOMorsPn6AyID/vCj21P+ZfeI4eiu/8A+FM/Ev8A6Fh//AuD/wCLo/4Uz8S/+hYf/wAC4P8A4uj21P8AmX3jOAorv/8AhTPxL/6Fh/8AwLg/+Lo/4Uz8S/8AoWH/APAuD/4uj21P+ZfeBwFFd/8A8KZ+Jf8A0LD/APgXB/8AF0f8KZ+Jf/QsP/4Fwf8AxdHtqf8AMvvA4FFZ3CqCWJwAO5r9B7f/AI94/wDcH8q+dPhJ8DdXg1211nxasNvDayCSOzVw7u6nI3EcAZxxk5/n9HDgYFebjasZtKPQEFFFFcQwooooAKKKKACiiigAooooAK8Z/a7Ut8PdNwCcaohPsPKkH9RXs1YXjzwzZeLvC93od9lUnUbJAOY3ByrD6GtKM1CakwPhGivTtb+BvxAsb54LLTotThB+SaGdEBHbIcgg+3P1qh/wpn4l/wDQsP8A+BcH/wAXXtKvTf2kI4Ciu/8A+FM/Ev8A6Fh//AuD/wCLo/4Uz8S/+hYf/wAC4P8A4un7an/MvvA4Ciu//wCFM/Ev/oWH/wDAuD/4uj/hTPxL/wChYf8A8C4P/i6PbU/5l94HAUV3V58IfiLZ2k13ceG3SGGNpJG+1QnaqjJPD+gos/hD8Rby0hu7fw27wzRrJG32qEblYZB5f0NHtqf8y+8RwtFd/wD8KZ+Jf/QsP/4Fwf8AxdH/AApn4l/9Cw//AIFwf/F0e2p/zL7xnAUV3/8Awpn4l/8AQsP/AOBcH/xdH/CmfiX/ANCw/wD4Fwf/ABdHtqf8y+8DgKK7/wD4Uz8S/wDoWH/8C4P/AIurFh8EviNc3SQzaLHZoxwZZrqMov12Mx/Sj21P+ZAdj+yZ8qeJWbhSbUA+pHm5/mKK9i+FHgWz8DeGBpiSC5uZX825n243vjHHoABgCivGrzU6jkhnY0UUViAUUUUAFFFFABXKap/yV3w7/wBgDVf/AEo0+urrlNU/5K74d/7AGq/+lGn00JnV0UUUhhRRRQAUUUUAFFFFABRRRQAUUUUAFFFFABRRRQAUUUUAFFFFABRRRQAUUUUAFFFFAGV4x/5FDWf+vCf/ANFtR4O/5FDRv+vCD/0WtHjH/kUNZ/68J/8A0W1Hg7/kUNG/68IP/Ra0+gupq0UUUhhRRRQAUUUUAFFFFABRRRQAUUUUAFFFFABXKap/yV3w7/2ANV/9KNPrq65TVP8Akrvh3/sAar/6UafTQmdXRRRSGFFFFABRRRQAUUUUAFFFFABRRRQAUUUUAFFFFABRRRQAUUUUAFFFFABRRRQAUUUUAZXjH/kUNZ/68J//AEW1Hg7/AJFDRv8Arwg/9FrR4x/5FDWf+vCf/wBFtR4O/wCRQ0b/AK8IP/Ra0+gupq0UUUhhRRRQAUUUUAFFFFABRRRQAUUUUAFFFFABXKap/wAld8O/9gDVf/SjT66uuU1T/krvh3/sAar/AOlGn00JnV0UUUhhRRRQAUUUUAFFFFABRRRQAUUUUAFFFFABRRRQAUUUUAFFFFABRRRQAUUUUAFFFFAGV4x/5FDWf+vCf/0W1Hg7/kUNG/68IP8A0WtHjH/kUNZ/68J//RbUeDv+RQ0b/rwg/wDRa0+gupq0UUUhhRRRQAUUUUAFFFFABRRRQAUUUUAFFFFABXKap/yV3w7/ANgDVf8A0o0+urr508V/HCPSvi7Bp114Q1JvEGmwX2kxWEUysl1LcT2jW7LIQCFdYSfuHG5euTi4RbehE5JLU+i6KbCZGhRpkVJCo3qrbgD3AOBke+BTqgsKKKKACiiigAooooAKKKKACiiigAooooAKKKKACiiigAooooAKKKKACiiigAooooAyvGP/ACKGs/8AXhP/AOi2o8Hf8iho3/XhB/6LWuN+Pvjj/hBvCgubvR573S9QWayuLmCQb7WR4z5ZKEfMpO4E5GMDrnFHwC8cHxz4UNzaaPPZaXp6w2VvczyDfdSJGPMIQD5VB2gHJzk9MYq+V8tyOZc1j0eiiioLCiiigAooooAKKKKAOW8e+PvDfgq3V9avMTyDMVvEu6R/oOw9zgVwP/DRvg7/AKBGvf8AfqL/AOOV4P8AGDVLvVviVrs93IXaG8ktkGeFSNigA9OmfqTXJ16tPBQ5U5biufUn/DRvg7/oD69/36i/+OUf8NG+Dv8AoD69/wB+ov8A45Xy3RV/UqQXPqT/AIaN8Hf9AfXv+/UX/wAco/4aN8Hf9AfXv+/UX/xyvluij6lSC59Sf8NG+Dv+gPr3/fqL/wCOVxWr/ET4Xal8VNL+IdxoniD+0dPtWhWMQw7JG/gkb9595QzgfVf7orxCimsHTQnqfUn/AA0b4O/6A+vf9+ov/jlH/DRvg7/oD69/36i/+OV8t0UvqVIdz6k/4aN8Hf8AQH17/v1F/wDHKP8Aho3wd/0B9e/79Rf/AByvluij6lSC59Sf8NG+Dv8AoD69/wB+ov8A45R/w0b4O/6A+vf9+ov/AI5Xy3RR9SpBc+1fAHxQ8K+NJTa6bdSQXoGfstyuyQj1HY/gTXbV8A6Dqd1o2tWeq2chSe1mWVCD6Hp9D0Psa+/IWLQozdSoJrhxVBUmrbMY6iiiuUAooooAKKKKACiiigAooooAKZcTRW8DzzyLHFGpZ3Y4CgdzT68m/ao1S7074apBayFFv7xLaUg4JTazkfjswfY1dOHPJRANb+P3gfTr57WCPUdSVDgy2sS7CfYuy5+o4qj/AMNG+Dv+gPr3/fqL/wCOV8t0V6qwVIVz6k/4aN8Hf9AfXv8Av1F/8co/4aN8Hf8AQH17/v1F/wDHK+W6KPqVILn1J/w0b4O/6A+vf9+ov/jlH/DRvg7/AKA+vf8AfqL/AOOV8t0UfUqQXPojx78aPAHjDwdqnhnUdH14W9/A0W/yIWMbdUcDzOSrBWHuKPAXxo8AeD/B2l+GdO0fXjb2ECxb/IhUyN1dyPM4LMWY+5r53op/U6drC63PqT/ho3wd/wBAfXv+/UX/AMco/wCGjfB3/QH17/v1F/8AHK+W6KX1KkO59Sf8NG+Dv+gPr3/fqL/45R/w0b4O/wCgPr3/AH6i/wDjlfLdFH1KkFz6k/4aN8Hf9AfXv+/UX/xyp7D9obwTc3SQzWmr2cbHBmmhQqv1CMx/SvlSij6lSC5+gOlahZarp8N/p9zHc2sy7o5I2yrCivBv2TtYvm0XW9K83MFrNFLEG52+YH3Aeg+TP1Jory6tP2c3EZ4r8Rf+Sg+I/wDsK3X/AKNasGt74i/8lB8R/wDYVuv/AEa1YNe7D4USFFFFUBp6P4f17WY5JNH0PU9RSM7Xa1tHlCn0JUHFUr60urG7ktL22mtbiI7ZIpoyjofQg8ivRvBum6jq3wR8RWml6fd39wdVt2EVtC0jkBeThQTXbnR2vpoftEdpfazpmkafa6kjaZHqd0khkORsdwgwuA7tkgdMVhKtyt3GeB/ZLv7D9v8Ass/2TzfJ8/yz5fmYzs3dN2OcdcUWtleXaTyWtpPOlvGZJmjjLCNB/E2Og9zX0bPof2qa80HTNN0iPT7fxUzGKbTVlhRDaK4+VdpJLnCjcM8Lnb8tLa6QbLTmm0/Q4W1S68NXO+CbSYrVriVZV2LJbRkpu5A29+ARzio+s+QHzVRX0ZY+FbI6lHdJpOirOXsI9XtbfRY7swSlN0qlZHWO2ixjcwXcCT9KyNX8P2aaNq8Efh600uytjqBkvJtMiuIZFWYhStyrebBKq8JGQQeODmqWITCx4VRXtfxY0nQbHwffmx0FUs0e0/sjUI7G3hRgUG7E4l8y63Lk52HBHPqPFK1p1FNXAKKKKsQV+hFv/qI/90fyr896/Qi3/wBRH/uj+VedmH2fn+g0PooorzRhRRRQAUUUUAFFFFABRRRQAV4x+15/yT7TP+wqn/oqWvZ68Y/a8/5J9pn/AGFU/wDRUtb4b+LEGfLdFFFe4SFX9H0bWNZlki0fSb/UZIwGdbW3eUqPUhQcVQr0j4Ptap4Y8dNfQzT240pfMjhlEbsN/QMVYD/vk1FSTjG6A4PVtL1PSLoWurabeafcFQ4iuoGicqc4OGAOODz7VTr37TtO0PUBoX2W1e80iHQbltCW4jW8ne7LZljeNtsckic7Y8gYBI9iHSLCTX7y3sfBggvGSwW6kbSLS6FvIc7t9mJm8iNxgkqQV56cE5fWO6GeA0V75oXh/R20q0X+xdDu9FdNS/tvUVgXFvKjEJslbLxgYXYMjIOeamm8J6Yt/fal/YOnf2XcyaGLGUW0ZikDzRiXy8DBBBw2OueaPrCvsB8+0V7YtrLfJrdz4b8K6Dqeq2/iF7KSzbTYPKgslD7MrwEBbOZflJxjdxVzUtF8N2/gnzLfw7Bd6adIST7VDBbrEl55nJN+8wc/N8hjAbjGM0/brsB4PRXqnxk0xbbRIrxdFttGjOoGKK1k0qK2uFXygfkliYrcQ5/jIzuPWvK60hPnVwCiiirEe8fslf8AMzf9un/taij9kr/mZv8At0/9rUV4uL/jP+uhSPK/G9rPffE/XLK1j8ye41q4iiTIG5mnYAZPA5Peq0PhTXZvFY8LQWsM2rl2TyI7qJgGUEspcNsBAByM8Yx1rcvP+S7zf9jO3/pVWn4dvLXT/wBoK+u726htYI9S1DdLNIERcrMBkngckD8a9Tmajp2EchZeE/EF4NZNvp7P/Yis2o5lRfIC7s9T8x+VuFyeKxK+gL3xN4YPh/VpLfU7P7R4h0m5v7uIXEamObyI41g9nLGQhevJ4rT07xJocetefd+JNDk0R7uwbQLYXEebFVj/AHpKcGAbcqd2Mk4rP28v5QPmyivetO8VWOoWVhdXviDT/wC3gmrRWF1c3KZtZGbMJLHPlrjcFJ4HAFW9c1C8tZHgHiHTrHxbN4d07ydRnu441cCeQzBZmG3n5SefnHTOKr272sB4j4d8Na54hEx0XTpL3yGjSQIVypkbavBPPIP0AJOACafr/hfW9DtIrzULWH7LLI0ST291FcR+YvVC0TMA3sSD1r1zW/EGh2eubvDninTdNl1XW3uHu4oVkji8uERgSJ0CSStIdx4w27kc0zwzqOi6bqekzale6Bol5Pqk7Pa6RqZlsWja2dBLIoleOI7yoBBXg/dwCQvbS3sB4ZRX0T4Yf7H4Xh07S9e0ltTsfDV0rTwX0Tx20pmUrmQHavbDE4HXtT7HWNGXUo71PGVsL+N7CPVmttStrMXLxpmSZpSjNOvRSiHB59c0fWHroB4BeaVf2el2Op3FvstL8SG1k3qfM2NtbgHIweOQKpV9ER69psEdkg8TaImgxXWsNq1kLyJjcQySymFRGCTICDwB65qvpep6RbeDpLNvFGm3sR0m1NtFfahbi1E6yByv2ONA6FT95iSze5HB7d9gPn+pbSB7q5jt42iV5GCqZZVjUH3ZiFA9yQK9+j1/SR4ltr3VvENvLesl/wDY4H1i3uo7WV8bHju1j/cIeQquDt4OK80+MWpQ6lrOnShrSS7j0+OO5lh1Jb15GGcebKkaI0gBwSu4cDmrhVcnawHKa5pd9ouq3Gl6nCILu3bbLGHV9pxnqpIPBHQ1992/+oj/AN0fyr4n+NH/ACU/W/8Arqn/AKLWvti3/wBRH/uj+VcWNd4wf9dAQ+iiivPGFFFFABRRRQAUUUUAFFFFABXjH7Xn/JPtM/7Cqf8AoqWvZ68Y/a8/5J9pn/YVT/0VLW+G/ixBny3RRRXuEhWpoOgapri3j6bBFIllD59y8lxHEsaZxkl2ArLrvPhh/wAix45/7A3/ALUWpnJpXQzlRoWqtocWtx2hksJbj7Mskbq5EvXYyg7lJ7ZAz2pmv6PqGg6k+m6pCsF2ihniEqOUyMgHaTg47Hkd67L4J69FpOralb39xZJYS2TziO8KiM3MWHhYZI+YMOPWuu8CeIrFvDekzXev6bBYg6jJ4ms7mZBNeySAlD5ZAaYnK4xnGMZ4rKVSUW9APFLWCW6uYraBd8srhEXIGWJwBz71PrGnXmkapcaZqEPk3ds5jlj3BtrDtkEg/ga920zWdHgMmuR+JNKiR/D1jbRAXyLOJY5BvXZnepUDPI5zxnmr11q2l6h4ltZ5vFOjMll4oa8eSXVIiBbGHCFSW+YZAXC5K55A5qfrDvsB8/6ro+o6XBZTX1v5Md9ALi2O9W3xk4DcE46dDg1Qr6H1jxFpLadH9q8Rabc6AuhXUN1YRXsbSS3DSfux5YbczdCGx8uDyM84fxY1/R7zwff22n3WnXOnTPaHS4v7Vjke2CoM+VbJDugG3KsHcc9Mk4LjWk2lYDya+0LU7PRbPWp4YvsN4zJBKlxG+WXqpVWJUjI4YCs2u21j/kjOgf8AYVuv/QUria2g20AUUUVQj3j9kr/mZv8At0/9rUUfslf8zN/26f8AtaivFxf8Z/10KR5R4+llt/iR4gngkeKWPWLl0dGKsrCZiCCOhBrH1LUL/U7trzUr25vbl8bpriVpHbHTLMSa9U/aB+HOr6T4rvdf06xnutKvpDOzxIWMLn7wbHQE5OenOPr5Ea9alKMopoQUUUVoIt6VqepaTd/a9K1C7sLjaV822maJ8HqMqQcUzUL281G8kvdQu7i8upCDJNPIZHfAwMseTwAKr0UWV7gFFFFAE9re3lok8drdzwJcRmOZY5CokQ/wtjqPY1BRRQAUUUUAFS2lxcWlzHdWs8tvPEwaOWJyrIR0II5BqKigCe/vLu/u5Ly+up7q5lOZJppC7ufUseTX6A2/+oj/AN0fyr40+Enw71jxd4htHexmi0iOVXubmRCqMoOSqk9SenHTP5/ZqKERUHRQAK8vHSi2oroNC0UUVwDCiiigAooooAKKKKACiiigArxj9rz/AJJ9pn/YVT/0VLXs9cT8avB8njTwNcabakC9hcXFruPBdex+oJH41rQko1E2B8VUVd1nSdT0a9ez1WwuLOdDgpMhX8R6j3HFUq95O5IVc0vVdU0ppW0vUryxaZPLlNtO0Zdf7p2kZHtVOihq4BRRRQAUUUUAFFFFAFy71TU7uxt7G61G8ntLYYt4JZ2aOL/dUnC/hVOiigAooqexs7y/uUtrG1nup3OFjhjLsT7Ac0Ae4/slf8zN/wBun/taiu+/Z9+H9z4W8KzzaxGYtR1CRZJIg3+rRQQqnHflj+NFeHiZKVVtFHqjKrAqygg9iKb5MP8AzyT/AL5FPorABnkw/wDPJP8AvkUeTD/zyT/vkU+igBnkw/8APJP++RR5MP8AzyT/AL5FPooAZ5MP/PJP++RXL6kAvxX0CEDET6HqjMg+6WE9gASPUbmx9T611dcpqn/JXfDv/YA1X/0o0+mhM6jyYf8Ankn/AHyKPJh/55J/3yKfRSGM8mH/AJ5J/wB8ijyYf+eSf98in0UAM8mH/nkn/fIo8mH/AJ5J/wB8in0UAIiqgwihR6AYpaKKACiiigAooooAKKKKACiiigAooooAKKKKAGtFGzbmjQn1K0nkw/8APJP++RT6KAGeTD/zyT/vkUeTD/zyT/vkU+igBnkw/wDPJP8AvkUeTD/zyT/vkU+igBnkw/8APJP++RR5MP8AzyT/AL5FPooAZ5MP/PJP++RR5MP/ADyT/vkU+igBnkw/88k/75FHkw/88k/75FPooAZ5MP8AzyT/AL5FAiiBBESAjodop9FABRRRQAUUUUAFFFFABRRRQAVymqf8ld8O/wDYA1X/ANKNPrq65TVP+Su+Hf8AsAar/wClGn00JnV0UUUhhRRRQAUUUUAFFFFABRRRQAUUUUAFFFFABRRRQAUUUUAFFFFABRRRQAUUUUAFFFFABRRRQAUUUUAFFFFABRRRQAUUUUAFFFFABRRRQAUUUUAFcpqn/JXfDv8A2ANV/wDSjT66uuU1T/krvh3/ALAGq/8ApRp9NCZ1dFFFIYUUUUAFFFFABRRRQAUUUUAFFFFABRRRQAUUUUAFFFFABRRRQAUUUUAFFFFABRRRQAUUUUAFFFFABRRRQAUUUUAFFFFABRRRQAUUUUAFFFFABXKap/yV3w7/ANgDVf8A0o0+urryXWvid4Bg+I2napceJ7KG303SdXtbxZdySxTC5sR5ZiI3ljsfACnOxiM4NVFNkyaR61RTYZFmhSVN211DDcpU4PqDyD7GnVJQUUUUAFFFFABRRRQAUUUUAFFFFABRRRQAUUUUAFFFFABRRRQAUUUUAFFFFABRRRQAUUUUAFFFFABRRRQAUUUUAFFFFAEF9eWljbPc3tzFbwIMtJI4VQPcmsL/AIT/AMD/APQ4aD/4Hx/418u/H3xfqHiPx3f2LzSLp+nTtbwwZ+UMh2sxHc5z+H4151XoU8DzRTkxXPub/hP/AAN/0OGg/wDgfF/jR/wn/gb/AKHDQf8AwPi/xr4ZorT6hHuFz7m/4T/wN/0OGg/+B8X+NH/Cf+Bv+hw0H/wPi/xr4Zoo+oR7hc+5v+E/8Df9DhoP/gfF/jXiHizwZ8Pda/aC0zxwPF3hsaKVF1qNudQiy91FgR/LnlW+Un/cfP3hXhFFOOCUdpEySlufc3/Cf+Bv+hw0H/wPi/xo/wCE/wDA3/Q4aD/4Hxf418M0UvqEe5Vz7m/4T/wN/wBDhoP/AIHxf40f8J/4G/6HDQf/AAPi/wAa+GaKPqEe4XPub/hP/A3/AEOGg/8AgfF/jR/wn/gb/ocNB/8AA+L/ABr4Zoo+oR7hc/QDStU03VbYXOmX1teQE4EkEgdfzFW6+Gvht4t1Dwf4otdTtJ5Fg8xRdQg/LLHnkEeuM4PY19xxtvjV8Y3AHFceIoOi1roMdRRRXOAUUUUAFFFFABRRRQAUUUUAFFFFABRRRQAUUUUAFFFFABRRRQAUUUUAFFFFABRRRQAUUUUAfCXxF/5KD4j/AOwrdf8Ao1qwa3viL/yUHxH/ANhW6/8ARrVqfBSztL/4naPaX1tb3Nu5m3xXEQkjbELkZUgg4IB6dq99S5ad/IRxtFe1W3hix8Q6FoNhqF1olzcavqjfZtT0bTFt0igjjJkjkIii+c4OAynHXpWTP4B8My3EE+mXF3ewC2uZLqzg1qxkeAxkeW73AIjjjYHJJBIxjBzxKrx6geV0V9F+D/AvhfSdSmtZtNj1KCWXT5o/tRhuHj81X3J5gXa65HYAEfnXO6n4L8JyeFJPEF6upR21rbTTpbWpt43P+klApkEOW4xy2cduOKlYiLYWPFqK9qm+E/hq71eTTNM1DVoHtdVitLiW5eN1eN4TKdoCrtIGBkkgnnArh/iJ4d8P6Paafd6FqSSmdpUuLRtSt7ySIqflfdBxtYc4IyD61ca0ZOyA42ivV7H4c+HdYvdNttFutRmtbi5ijk1NLq3nhZDCZHDRLiS3fIKgSZ6c0/8A4QPwS3nXseqXUttbaZd3dxZW+r2lzOrQumw+ZErKFdWPVcg+tL28QPJaK9d074feHVaw1tbjURpt6NONiHeGRjPPMVkjcNHtcIFJxtwe+eRWZ4n8I+HdGeNdUm1OS81a5vBZSWhhWKDZN5cYkj2jdk5J2lAowAppqtFuwHmtFewat8OPA+mX5stQ8TGwe1vYYJ2k1K1ka4RlG5liX54MOcfOGAHzHjOOE8e6Ha6Nc2Bs7O/tobq2EuLi6gukY7iCY54fkkXp2BBpxqxlsBzVfoRb/wCoj/3R/Kvz3r9CLf8A1Ef+6P5VxZh9n5/oCH0UUV5owooooAKKKKACiiigAooooAKKKKACiiigAooooAKKKKACiiigAooooAKKKKACiiigAooooA+EviL/AMlB8R/9hW6/9GtWfoOrahoeqw6ppdx9nvIN3lybFbbuUqeGBHQntWh8Rf8AkoPiP/sK3X/o1qwa+hirxRJs6L4o17RrE2Omai9tAblLoKqKSsq9HViMqccHBGRwcitJviJ4uaUP/aUATypITbixtxbskjbnDQhPLYseSSpJrlKKHCL3QzrW+JPjRrr7SdZxLmI7hawj/VE+XxsxxuP8jVa/8c+KL7TJtNuNRjNnMhjeFLWGNSpfeQNqjHzc8Yrm69A8JXFxb/BrxgbeeWEyXVpG5Ryu5GLAqcdQR1FRKMY62AxH8d+LHuJrj+2JFmnuo7uR0ijUmWNdqNkLxhRjA4PcGqXiLxNrXiBII9Uukkity5iiht44I1LHczbI1VcknJOMmu8+GGmf8Jt4HuvCkhBk07U4L2JmbGyBzsmx7AfN+NeiaVqtnq6Nr0cH2iGWPVILdJLiUxLBFGqptQMFXKgZIGeevQ1lKpGD+HYDw258feLLhoXbVtkkMyTiWG3iikeRF2q0jooaQgcfOTSXvjvxVeRyRTakixSW0ts0UNpDFH5crBpPkRAoLEZLAbveu+8a+EPB2m+HtShtbdVvbXTra7hnt0vZJC78t5pKmBY2zhSCD8vJNclLcXEvwOhhlnlkjh8QlYkZyVjBtySFHYZJPHcmrjKEkmogYcHirxBDpemaZHqLCz0u6+2WUXloRFNndu5GTzng5HPSrcfjvxVHaT2yaoAszTMX+zxeYnnHMoR9u6MMeSFIFc1RWvJHsB1n/CxvGeYmXWSjRyLKXS2iVpWVNgMrBcy/Lx8+6sXXtc1LXJYJNRmjcW8YihjigjhjjTJOFSMKo5J6Cs2ihQitkAV+hFv/AKiP/dH8q/Pev0It/wDUR/7o/lXBmH2fn+gIfRRRXmjCiiigAooooAKKKKACiiigAooooAKKKKACiiigAooooAKKKKACiiigAooooAKKKKACiiigD4S+Iv8AyUHxH/2Fbr/0a1YNdt8bvD97oHxI1ZbqNvKvLh7uCTHyush3HH0JI/CuJr6Cm04JokKKKKsArb0nxJc6f4a1TQBZWdxa6kUaRpQ++NkztZCrAZGe4I9qxKKTSe4FrTtR1DTZXm06+urOSSMxO8ErRlkPVSQeQcDip7DXtc09IUsNZ1G0WAs0IhuXQRlvvFcHjPfHWs6iiyA0rrxBr13pq6Zda1qU9ipyLaS6dogc5zsJx19qll16d/CMPhpbO0jto7s3jTKH82SQqV+bLFcBTjAUdB71kUUcqAKKKKYBRRRQAV+hFv8A6iP/AHR/Kvg7wdoN54l8SWWi2MbPJcSqrEDhEz8zH2Ar7yiUpEinkhQDXm5g1eKGh1FFFecMKKKKACiiigAooooAKKKKACiiigAooooAKKKKACiiigAooooAKKKKACiiigAooooAKKKKAMXxh4f0XxBpT2+s6bbXsajKiVMlT6g9QfcVwQ+D/wAOjz/wjv8A5O3H/wAXRRVxqTitGAf8Kf8Ah1/0Lv8A5O3H/wAXR/wp/wCHX/Qu/wDk7cf/ABdFFP21T+Z/eAf8Kf8Ah1/0Lv8A5O3H/wAXR/wp/wCHX/Qu/wDk7cf/ABdFFHtqn8z+8A/4U/8ADr/oXf8AyduP/i6P+FP/AA6/6F3/AMnbj/4uiij21T+Z/eAf8Kf+HX/Qu/8Ak7cf/F0f8Kf+HX/Qu/8Ak7cf/F0UUe2qfzP7wD/hT/w6/wChd/8AJ24/+Lo/4U/8Ov8AoXf/ACduP/i6KKPbVP5n94B/wp/4df8AQu/+Ttx/8XR/wp/4df8AQu/+Ttx/8XRRR7ap/M/vA7LwL4U8O+HLRv7E0i2s2ckM6gl2HuxyT+ddLRRUNtu7AKKKKQBRRRQAUUUUAFFFFABRRRQAUUUUAFFFFABRRRQAUUUUAFFFFABRRRQAUUUUAFFFFABRRRQB/9k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1" name="AutoShape 9" descr="data:image/svg+xml;base64,PHN2ZyB4bWxucz0iaHR0cDovL3d3dy53My5vcmcvMjAwMC9zdmciIHN0eWxlPSJiYWNrZ3JvdW5kOiB0cmFuc3BhcmVudDsgYmFja2dyb3VuZC1jb2xvcjogdHJhbnNwYXJlbnQ7IiB4bWxuczp4bGluaz0iaHR0cDovL3d3dy53My5vcmcvMTk5OS94bGluayIgdmVyc2lvbj0iMS4xIiB3aWR0aD0iNDMxcHgiIGhlaWdodD0iNDYxcHgiIHZpZXdCb3g9Ii0wLjUgLTAuNSA0MzEgNDYxIiBjb250ZW50PSImbHQ7bXhHcmFwaE1vZGVsJmd0OyZsdDtyb290Jmd0OyZsdDtteENlbGwgaWQ9JnF1b3Q7MCZxdW90Oy8mZ3Q7Jmx0O214Q2VsbCBpZD0mcXVvdDsxJnF1b3Q7IHBhcmVudD0mcXVvdDswJnF1b3Q7LyZndDsmbHQ7bXhDZWxsIGlkPSZxdW90OzImcXVvdDsgdmFsdWU9JnF1b3Q7JnF1b3Q7IHN0eWxlPSZxdW90O3JvdW5kZWQ9MDt3aGl0ZVNwYWNlPXdyYXA7aHRtbD0xO2ZpbGxDb2xvcj1saWdodC1kYXJrKCNGRkZGRkYsI0Y4RjhGOCk7bW92YWJsZT0wO3Jlc2l6YWJsZT0wO3JvdGF0YWJsZT0wO2RlbGV0YWJsZT0wO2VkaXRhYmxlPTA7bG9ja2VkPTE7Y29ubmVjdGFibGU9MDsmcXVvdDsgdmVydGV4PSZxdW90OzEmcXVvdDsgcGFyZW50PSZxdW90OzEmcXVvdDsmZ3Q7Jmx0O214R2VvbWV0cnkgeD0mcXVvdDszNDAmcXVvdDsgeT0mcXVvdDsxMDAmcXVvdDsgd2lkdGg9JnF1b3Q7NDMwJnF1b3Q7IGhlaWdodD0mcXVvdDs0NjAmcXVvdDsgYXM9JnF1b3Q7Z2VvbWV0cnkmcXVvdDsvJmd0OyZsdDsvbXhDZWxsJmd0OyZsdDsvcm9vdCZndDsmbHQ7L214R3JhcGhNb2RlbCZndDsiPjxkZWZzLz48Zz48ZyBkYXRhLWNlbGwtaWQ9IjAiPjxnIGRhdGEtY2VsbC1pZD0iMSI+PGcgZGF0YS1jZWxsLWlkPSJDWEZNTWtZa1NQLVJtS081c0xYai0xNiI+PGc+PHJlY3QgeD0iMCIgeT0iMCIgd2lkdGg9IjQzMCIgaGVpZ2h0PSI0NjAiIGZpbGw9IiNmZmZmZmYiIHN0cm9rZT0iIzAwMDAwMCIgcG9pbnRlci1ldmVudHM9ImFsbCIgc3R5bGU9ImZpbGw6IGxpZ2h0LWRhcmsocmdiKDI1NSwgMjU1LCAyNTUpLCByZ2IoMjQ4LCAyNDgsIDI0OCkpOyBzdHJva2U6IGxpZ2h0LWRhcmsocmdiKDAsIDAsIDApLCByZ2IoMjU1LCAyNTUsIDI1NSkpOyIvPjwvZz48L2c+PGcgZGF0YS1jZWxsLWlkPSJDWEZNTWtZa1NQLVJtS081c0xYai03Ii8+PGcgZGF0YS1jZWxsLWlkPSJDWEZNTWtZa1NQLVJtS081c0xYai0xIi8+PGcgZGF0YS1jZWxsLWlkPSJDWEZNTWtZa1NQLVJtS081c0xYai0xMiIvPjxnIGRhdGEtY2VsbC1pZD0iQ1hGTU1rWWtTUC1SbUtPNXNMWGotMiIvPjxnIGRhdGEtY2VsbC1pZD0iQ1hGTU1rWWtTUC1SbUtPNXNMWGotMyIvPjxnIGRhdGEtY2VsbC1pZD0iQ1hGTU1rWWtTUC1SbUtPNXNMWGotMTAiLz48ZyBkYXRhLWNlbGwtaWQ9IkNYRk1Na1lrU1AtUm1LTzVzTFhqLTQiLz48ZyBkYXRhLWNlbGwtaWQ9IkNYRk1Na1lrU1AtUm1LTzVzTFhqLTgiLz48ZyBkYXRhLWNlbGwtaWQ9IkNYRk1Na1lrU1AtUm1LTzVzTFhqLTExIi8+PGcgZGF0YS1jZWxsLWlkPSJDWEZNTWtZa1NQLVJtS081c0xYai01Ii8+PGcgZGF0YS1jZWxsLWlkPSJDWEZNTWtZa1NQLVJtS081c0xYai02Ii8+PC9nPjwvZz48L2c+PC9zdmc+"/>
          <p:cNvSpPr>
            <a:spLocks noChangeAspect="1" noChangeArrowheads="1"/>
          </p:cNvSpPr>
          <p:nvPr/>
        </p:nvSpPr>
        <p:spPr bwMode="auto">
          <a:xfrm>
            <a:off x="63500" y="-136525"/>
            <a:ext cx="4105275" cy="4391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03" name="AutoShape 11" descr="data:image/svg+xml;base64,PHN2ZyB4bWxucz0iaHR0cDovL3d3dy53My5vcmcvMjAwMC9zdmciIHN0eWxlPSJiYWNrZ3JvdW5kOiB0cmFuc3BhcmVudDsgYmFja2dyb3VuZC1jb2xvcjogdHJhbnNwYXJlbnQ7IiB4bWxuczp4bGluaz0iaHR0cDovL3d3dy53My5vcmcvMTk5OS94bGluayIgdmVyc2lvbj0iMS4xIiB3aWR0aD0iNDMxcHgiIGhlaWdodD0iNDYxcHgiIHZpZXdCb3g9Ii0wLjUgLTAuNSA0MzEgNDYxIiBjb250ZW50PSImbHQ7bXhHcmFwaE1vZGVsJmd0OyZsdDtyb290Jmd0OyZsdDtteENlbGwgaWQ9JnF1b3Q7MCZxdW90Oy8mZ3Q7Jmx0O214Q2VsbCBpZD0mcXVvdDsxJnF1b3Q7IHBhcmVudD0mcXVvdDswJnF1b3Q7LyZndDsmbHQ7bXhDZWxsIGlkPSZxdW90OzImcXVvdDsgdmFsdWU9JnF1b3Q7JnF1b3Q7IHN0eWxlPSZxdW90O3JvdW5kZWQ9MDt3aGl0ZVNwYWNlPXdyYXA7aHRtbD0xO2ZpbGxDb2xvcj1saWdodC1kYXJrKCNGRkZGRkYsI0Y4RjhGOCk7bW92YWJsZT0wO3Jlc2l6YWJsZT0wO3JvdGF0YWJsZT0wO2RlbGV0YWJsZT0wO2VkaXRhYmxlPTA7bG9ja2VkPTE7Y29ubmVjdGFibGU9MDsmcXVvdDsgdmVydGV4PSZxdW90OzEmcXVvdDsgcGFyZW50PSZxdW90OzEmcXVvdDsmZ3Q7Jmx0O214R2VvbWV0cnkgeD0mcXVvdDszNDAmcXVvdDsgeT0mcXVvdDsxMDAmcXVvdDsgd2lkdGg9JnF1b3Q7NDMwJnF1b3Q7IGhlaWdodD0mcXVvdDs0NjAmcXVvdDsgYXM9JnF1b3Q7Z2VvbWV0cnkmcXVvdDsvJmd0OyZsdDsvbXhDZWxsJmd0OyZsdDsvcm9vdCZndDsmbHQ7L214R3JhcGhNb2RlbCZndDsiPjxkZWZzLz48Zz48ZyBkYXRhLWNlbGwtaWQ9IjAiPjxnIGRhdGEtY2VsbC1pZD0iMSI+PGcgZGF0YS1jZWxsLWlkPSJDWEZNTWtZa1NQLVJtS081c0xYai0xNiI+PGc+PHJlY3QgeD0iMCIgeT0iMCIgd2lkdGg9IjQzMCIgaGVpZ2h0PSI0NjAiIGZpbGw9IiNmZmZmZmYiIHN0cm9rZT0iIzAwMDAwMCIgcG9pbnRlci1ldmVudHM9ImFsbCIgc3R5bGU9ImZpbGw6IGxpZ2h0LWRhcmsocmdiKDI1NSwgMjU1LCAyNTUpLCByZ2IoMjQ4LCAyNDgsIDI0OCkpOyBzdHJva2U6IGxpZ2h0LWRhcmsocmdiKDAsIDAsIDApLCByZ2IoMjU1LCAyNTUsIDI1NSkpOyIvPjwvZz48L2c+PGcgZGF0YS1jZWxsLWlkPSJDWEZNTWtZa1NQLVJtS081c0xYai03Ii8+PGcgZGF0YS1jZWxsLWlkPSJDWEZNTWtZa1NQLVJtS081c0xYai0xIi8+PGcgZGF0YS1jZWxsLWlkPSJDWEZNTWtZa1NQLVJtS081c0xYai0xMiIvPjxnIGRhdGEtY2VsbC1pZD0iQ1hGTU1rWWtTUC1SbUtPNXNMWGotMiIvPjxnIGRhdGEtY2VsbC1pZD0iQ1hGTU1rWWtTUC1SbUtPNXNMWGotMyIvPjxnIGRhdGEtY2VsbC1pZD0iQ1hGTU1rWWtTUC1SbUtPNXNMWGotMTAiLz48ZyBkYXRhLWNlbGwtaWQ9IkNYRk1Na1lrU1AtUm1LTzVzTFhqLTQiLz48ZyBkYXRhLWNlbGwtaWQ9IkNYRk1Na1lrU1AtUm1LTzVzTFhqLTgiLz48ZyBkYXRhLWNlbGwtaWQ9IkNYRk1Na1lrU1AtUm1LTzVzTFhqLTExIi8+PGcgZGF0YS1jZWxsLWlkPSJDWEZNTWtZa1NQLVJtS081c0xYai01Ii8+PGcgZGF0YS1jZWxsLWlkPSJDWEZNTWtZa1NQLVJtS081c0xYai02Ii8+PC9nPjwvZz48L2c+PC9zdmc+"/>
          <p:cNvSpPr>
            <a:spLocks noChangeAspect="1" noChangeArrowheads="1"/>
          </p:cNvSpPr>
          <p:nvPr/>
        </p:nvSpPr>
        <p:spPr bwMode="auto">
          <a:xfrm>
            <a:off x="63500" y="-136525"/>
            <a:ext cx="4105275" cy="4391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204" name="Picture 12" descr="D:\yaswanth\downloads\Untitled Diagram.drawio.png"/>
          <p:cNvPicPr>
            <a:picLocks noChangeAspect="1" noChangeArrowheads="1"/>
          </p:cNvPicPr>
          <p:nvPr/>
        </p:nvPicPr>
        <p:blipFill>
          <a:blip r:embed="rId4"/>
          <a:srcRect l="2751" t="2061" r="1657" b="2133"/>
          <a:stretch>
            <a:fillRect/>
          </a:stretch>
        </p:blipFill>
        <p:spPr bwMode="auto">
          <a:xfrm>
            <a:off x="8069193" y="1901825"/>
            <a:ext cx="3924300" cy="4206875"/>
          </a:xfrm>
          <a:prstGeom prst="rect">
            <a:avLst/>
          </a:prstGeom>
          <a:noFill/>
        </p:spPr>
      </p:pic>
      <p:cxnSp>
        <p:nvCxnSpPr>
          <p:cNvPr id="17" name="Straight Connector 16"/>
          <p:cNvCxnSpPr/>
          <p:nvPr/>
        </p:nvCxnSpPr>
        <p:spPr>
          <a:xfrm>
            <a:off x="7852200" y="1411357"/>
            <a:ext cx="0" cy="4943405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48199" y="1378605"/>
            <a:ext cx="2175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b="1" u="sng">
                <a:solidFill>
                  <a:schemeClr val="bg2">
                    <a:lumMod val="10000"/>
                  </a:schemeClr>
                </a:solidFill>
                <a:latin typeface="+mj-lt"/>
              </a:rPr>
              <a:t>User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0180" y="1411357"/>
            <a:ext cx="252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u="sng">
                <a:latin typeface="+mj-lt"/>
              </a:rPr>
              <a:t>Infra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382BB5-84D1-BB3A-4C4C-3F070111E318}"/>
              </a:ext>
            </a:extLst>
          </p:cNvPr>
          <p:cNvSpPr/>
          <p:nvPr/>
        </p:nvSpPr>
        <p:spPr>
          <a:xfrm>
            <a:off x="8274071" y="4374039"/>
            <a:ext cx="927057" cy="2277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Database</a:t>
            </a:r>
            <a:r>
              <a:rPr lang="en-IN"/>
              <a:t> 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171" y="1516315"/>
            <a:ext cx="11745423" cy="1831271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endParaRPr lang="en-US" sz="600" b="1" u="sng" dirty="0">
              <a:solidFill>
                <a:schemeClr val="tx2">
                  <a:lumMod val="75000"/>
                </a:schemeClr>
              </a:solidFill>
              <a:latin typeface="+mj-lt"/>
              <a:ea typeface="Calibri"/>
              <a:cs typeface="Calibri"/>
            </a:endParaRPr>
          </a:p>
          <a:p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 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</a:rPr>
              <a:t>       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Feasibility:</a:t>
            </a:r>
            <a:endParaRPr lang="en-US" sz="2400" b="1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endParaRPr lang="en-US" sz="1000" b="1">
              <a:solidFill>
                <a:schemeClr val="tx2">
                  <a:lumMod val="75000"/>
                </a:schemeClr>
              </a:solidFill>
            </a:endParaRPr>
          </a:p>
          <a:p>
            <a:endParaRPr lang="en-US" sz="600" b="1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en-US" sz="1700" dirty="0">
                <a:latin typeface="+mn-lt"/>
              </a:rPr>
              <a:t>The project uses technologies like </a:t>
            </a:r>
            <a:r>
              <a:rPr lang="en-US" sz="1700" b="1" dirty="0">
                <a:latin typeface="+mn-lt"/>
              </a:rPr>
              <a:t>React </a:t>
            </a:r>
            <a:r>
              <a:rPr lang="en-US" sz="1700" dirty="0">
                <a:latin typeface="+mn-lt"/>
              </a:rPr>
              <a:t>and </a:t>
            </a:r>
            <a:r>
              <a:rPr lang="en-US" sz="1700" b="1" dirty="0">
                <a:latin typeface="+mn-lt"/>
              </a:rPr>
              <a:t>Python</a:t>
            </a:r>
            <a:r>
              <a:rPr lang="en-US" sz="1700" dirty="0">
                <a:latin typeface="+mn-lt"/>
              </a:rPr>
              <a:t> and relies on </a:t>
            </a:r>
            <a:r>
              <a:rPr lang="en-US" sz="1700" b="1" dirty="0">
                <a:latin typeface="+mn-lt"/>
              </a:rPr>
              <a:t>proven AI models.</a:t>
            </a:r>
            <a:endParaRPr lang="en-US" sz="1700" b="1" dirty="0">
              <a:latin typeface="+mn-lt"/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700" dirty="0"/>
              <a:t>The Project has tested its core AI models, achieving an </a:t>
            </a:r>
            <a:r>
              <a:rPr lang="en-US" sz="1700" b="1" dirty="0"/>
              <a:t>87.5% </a:t>
            </a:r>
            <a:r>
              <a:rPr lang="en-US" sz="1700" dirty="0"/>
              <a:t>accuracy rate</a:t>
            </a:r>
            <a:r>
              <a:rPr lang="en-US" sz="1700" b="1" dirty="0"/>
              <a:t> </a:t>
            </a:r>
            <a:r>
              <a:rPr lang="en-US" sz="1700" dirty="0"/>
              <a:t>in student emotion detection, which demonstrates that the technology works and can be a reliable tool for real-time emotional </a:t>
            </a:r>
            <a:r>
              <a:rPr lang="en-IN" sz="1700" dirty="0"/>
              <a:t>support.</a:t>
            </a:r>
            <a:r>
              <a:rPr lang="en-IN" sz="1600" i="1" dirty="0"/>
              <a:t>(Lattie et al., 2020)</a:t>
            </a:r>
            <a:endParaRPr lang="en-US" sz="16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301177" y="3661652"/>
            <a:ext cx="11709740" cy="253915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>
                <a:solidFill>
                  <a:schemeClr val="tx2">
                    <a:lumMod val="75000"/>
                  </a:schemeClr>
                </a:solidFill>
              </a:rPr>
              <a:t>Challenges and Risks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One of the challenge, integrating the platform into </a:t>
            </a:r>
            <a:r>
              <a:rPr lang="en-US" b="1"/>
              <a:t>university system.</a:t>
            </a:r>
            <a:endParaRPr lang="en-US" b="1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/>
              <a:t>Difficulty in getting students to use the platform</a:t>
            </a:r>
            <a:r>
              <a:rPr lang="en-US" b="1"/>
              <a:t> consistently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/>
              <a:t>The risk of the AI </a:t>
            </a:r>
            <a:r>
              <a:rPr lang="en-US" b="1"/>
              <a:t>misidentifying</a:t>
            </a:r>
            <a:r>
              <a:rPr lang="en-US"/>
              <a:t> a student’s emotional state.</a:t>
            </a:r>
            <a:endParaRPr lang="en-US">
              <a:ea typeface="Calibri"/>
              <a:cs typeface="Calibri"/>
            </a:endParaRPr>
          </a:p>
          <a:p>
            <a:endParaRPr lang="en-US" sz="1400" b="1">
              <a:solidFill>
                <a:schemeClr val="accent1">
                  <a:lumMod val="75000"/>
                </a:schemeClr>
              </a:solidFill>
              <a:latin typeface="+mj-lt"/>
              <a:ea typeface="Calibri"/>
              <a:cs typeface="Calibri"/>
            </a:endParaRPr>
          </a:p>
          <a:p>
            <a:r>
              <a:rPr lang="en-US" sz="2000" b="1" u="sng">
                <a:solidFill>
                  <a:schemeClr val="tx2">
                    <a:lumMod val="75000"/>
                  </a:schemeClr>
                </a:solidFill>
                <a:latin typeface="+mj-lt"/>
              </a:rPr>
              <a:t>Strategies to Overcome Them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+mj-lt"/>
              </a:rPr>
              <a:t>:</a:t>
            </a:r>
            <a:endParaRPr lang="en-US" sz="2000" b="1">
              <a:solidFill>
                <a:schemeClr val="tx2">
                  <a:lumMod val="75000"/>
                </a:schemeClr>
              </a:solidFill>
              <a:latin typeface="+mj-lt"/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700"/>
              <a:t>Build features that directly integrate with </a:t>
            </a:r>
            <a:r>
              <a:rPr lang="en-US" sz="1700" b="1"/>
              <a:t>campus services.</a:t>
            </a:r>
            <a:endParaRPr lang="en-US" sz="1700" b="1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700"/>
              <a:t>A community section to</a:t>
            </a:r>
            <a:r>
              <a:rPr lang="en-US" sz="1700" b="1"/>
              <a:t> boost</a:t>
            </a:r>
            <a:r>
              <a:rPr lang="en-US" sz="1700"/>
              <a:t> engagement.</a:t>
            </a:r>
            <a:endParaRPr lang="en-US" sz="1700"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700"/>
              <a:t>Use a human </a:t>
            </a:r>
            <a:r>
              <a:rPr lang="en-US" sz="1700" b="1"/>
              <a:t>safety</a:t>
            </a:r>
            <a:r>
              <a:rPr lang="en-US" sz="1700"/>
              <a:t> net that alerts admins in a crisis.</a:t>
            </a:r>
            <a:endParaRPr lang="en-US"/>
          </a:p>
        </p:txBody>
      </p:sp>
      <p:pic>
        <p:nvPicPr>
          <p:cNvPr id="6146" name="Picture 2" descr="C:\Users\yaswanth kumar\Downloads\noun-feasibility-7388016.png"/>
          <p:cNvPicPr>
            <a:picLocks noChangeAspect="1" noChangeArrowheads="1"/>
          </p:cNvPicPr>
          <p:nvPr/>
        </p:nvPicPr>
        <p:blipFill>
          <a:blip r:embed="rId3"/>
          <a:srcRect b="15361"/>
          <a:stretch>
            <a:fillRect/>
          </a:stretch>
        </p:blipFill>
        <p:spPr bwMode="auto">
          <a:xfrm>
            <a:off x="240382" y="1716515"/>
            <a:ext cx="715301" cy="6054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07200" y="1479682"/>
            <a:ext cx="5384800" cy="39010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latin typeface="+mj-lt"/>
                <a:ea typeface="ＭＳ Ｐゴシック"/>
              </a:rPr>
              <a:t>              </a:t>
            </a:r>
            <a:r>
              <a:rPr lang="en-US" sz="2250" b="1" u="sng">
                <a:latin typeface="+mj-lt"/>
                <a:ea typeface="ＭＳ Ｐゴシック"/>
              </a:rPr>
              <a:t>Potential impact on the</a:t>
            </a:r>
            <a:endParaRPr lang="en-US">
              <a:cs typeface="Calibri"/>
            </a:endParaRPr>
          </a:p>
          <a:p>
            <a:r>
              <a:rPr lang="en-US" sz="2250" b="1">
                <a:latin typeface="+mj-lt"/>
                <a:ea typeface="ＭＳ Ｐゴシック"/>
              </a:rPr>
              <a:t>                          </a:t>
            </a:r>
            <a:r>
              <a:rPr lang="en-US" sz="2300" b="1" u="sng">
                <a:latin typeface="+mj-lt"/>
                <a:ea typeface="Calibri"/>
              </a:rPr>
              <a:t>Target</a:t>
            </a:r>
            <a:r>
              <a:rPr lang="en-US" sz="2250" b="1">
                <a:latin typeface="+mj-lt"/>
                <a:ea typeface="ＭＳ Ｐゴシック"/>
              </a:rPr>
              <a:t> </a:t>
            </a:r>
            <a:r>
              <a:rPr lang="en-US" sz="2250" b="1" u="sng">
                <a:latin typeface="+mj-lt"/>
                <a:ea typeface="ＭＳ Ｐゴシック"/>
              </a:rPr>
              <a:t>Audience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(Students)</a:t>
            </a:r>
            <a:endParaRPr lang="en-US">
              <a:cs typeface="Calibri" pitchFamily="34" charset="0"/>
            </a:endParaRPr>
          </a:p>
          <a:p>
            <a:endParaRPr lang="en-US" b="1" u="sng">
              <a:latin typeface="+mj-lt"/>
            </a:endParaRPr>
          </a:p>
          <a:p>
            <a:endParaRPr lang="en-US" sz="800" b="1"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en-US" sz="1600">
                <a:latin typeface="Calibri"/>
                <a:ea typeface="ＭＳ Ｐゴシック"/>
                <a:cs typeface="Calibri"/>
              </a:rPr>
              <a:t>Provides students with instant support for mental health issues like anxiety and burnout, available whenever they need it.</a:t>
            </a:r>
          </a:p>
          <a:p>
            <a:pPr>
              <a:buFont typeface="Arial" pitchFamily="34" charset="0"/>
              <a:buChar char="•"/>
            </a:pPr>
            <a:r>
              <a:rPr lang="en-IN" sz="1600">
                <a:latin typeface="+mn-lt"/>
                <a:ea typeface="ＭＳ Ｐゴシック"/>
              </a:rPr>
              <a:t>O</a:t>
            </a:r>
            <a:r>
              <a:rPr lang="en-US" sz="1600" err="1">
                <a:latin typeface="+mn-lt"/>
                <a:ea typeface="ＭＳ Ｐゴシック"/>
              </a:rPr>
              <a:t>ffers</a:t>
            </a:r>
            <a:r>
              <a:rPr lang="en-US" sz="1600">
                <a:latin typeface="+mn-lt"/>
                <a:ea typeface="ＭＳ Ｐゴシック"/>
              </a:rPr>
              <a:t> an anonymous community and a private chatbot, making it easier for students to seek help without fear of judgment.</a:t>
            </a:r>
            <a:r>
              <a:rPr lang="en-IN" sz="1600" i="1">
                <a:latin typeface="+mn-lt"/>
                <a:ea typeface="ＭＳ Ｐゴシック"/>
              </a:rPr>
              <a:t>(Lattie et al., 2020)</a:t>
            </a:r>
            <a:endParaRPr lang="en-US" sz="1600" i="1">
              <a:latin typeface="+mn-lt"/>
              <a:ea typeface="ＭＳ Ｐゴシック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1600">
                <a:latin typeface="Calibri"/>
                <a:ea typeface="ＭＳ Ｐゴシック"/>
                <a:cs typeface="Calibri"/>
              </a:rPr>
              <a:t>The platform consists of a range of resources like videos, calming audios, and guided meditations to help students improve their mental state.</a:t>
            </a:r>
          </a:p>
          <a:p>
            <a:pPr>
              <a:buFont typeface="Arial" pitchFamily="34" charset="0"/>
              <a:buChar char="•"/>
            </a:pPr>
            <a:r>
              <a:rPr lang="en-US" sz="1600">
                <a:latin typeface="Calibri"/>
                <a:ea typeface="ＭＳ Ｐゴシック"/>
                <a:cs typeface="Calibri"/>
              </a:rPr>
              <a:t>Ensures that students in crisis receive immediate attention by automatically alerting college administrators.</a:t>
            </a:r>
            <a:endParaRPr lang="en-US" sz="1500">
              <a:latin typeface="Calibri"/>
              <a:ea typeface="ＭＳ Ｐゴシック"/>
              <a:cs typeface="Calibri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6741160" y="1540042"/>
            <a:ext cx="0" cy="3925931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7" name="Picture 1" descr="C:\Users\yaswanth kumar\Downloads\noun-target-customer-5596480.png"/>
          <p:cNvPicPr>
            <a:picLocks noChangeAspect="1" noChangeArrowheads="1"/>
          </p:cNvPicPr>
          <p:nvPr/>
        </p:nvPicPr>
        <p:blipFill>
          <a:blip r:embed="rId3"/>
          <a:srcRect b="13289"/>
          <a:stretch>
            <a:fillRect/>
          </a:stretch>
        </p:blipFill>
        <p:spPr bwMode="auto">
          <a:xfrm>
            <a:off x="10463029" y="356084"/>
            <a:ext cx="978301" cy="848292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834D7E-BC2A-BD76-B562-8E936C5E2441}"/>
              </a:ext>
            </a:extLst>
          </p:cNvPr>
          <p:cNvSpPr/>
          <p:nvPr/>
        </p:nvSpPr>
        <p:spPr>
          <a:xfrm>
            <a:off x="328990" y="1351038"/>
            <a:ext cx="1355695" cy="41120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E6EA6-E4EB-8F6B-5E23-DB1308FB303D}"/>
              </a:ext>
            </a:extLst>
          </p:cNvPr>
          <p:cNvSpPr/>
          <p:nvPr/>
        </p:nvSpPr>
        <p:spPr>
          <a:xfrm>
            <a:off x="1868079" y="1351038"/>
            <a:ext cx="1355695" cy="4112093"/>
          </a:xfrm>
          <a:prstGeom prst="rect">
            <a:avLst/>
          </a:prstGeom>
          <a:solidFill>
            <a:srgbClr val="3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2F38A7-DD47-FC03-2CF5-B81D0ACEA9C9}"/>
              </a:ext>
            </a:extLst>
          </p:cNvPr>
          <p:cNvSpPr/>
          <p:nvPr/>
        </p:nvSpPr>
        <p:spPr>
          <a:xfrm>
            <a:off x="3422257" y="1351037"/>
            <a:ext cx="1355695" cy="4112093"/>
          </a:xfrm>
          <a:prstGeom prst="rect">
            <a:avLst/>
          </a:prstGeom>
          <a:solidFill>
            <a:srgbClr val="FFA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EEA5C4-3017-1CE7-A6A4-C7E2077D882C}"/>
              </a:ext>
            </a:extLst>
          </p:cNvPr>
          <p:cNvSpPr/>
          <p:nvPr/>
        </p:nvSpPr>
        <p:spPr>
          <a:xfrm>
            <a:off x="4976435" y="1373671"/>
            <a:ext cx="1355695" cy="41120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59DA2D-76EC-7DCF-CF30-330F0448699D}"/>
              </a:ext>
            </a:extLst>
          </p:cNvPr>
          <p:cNvSpPr txBox="1"/>
          <p:nvPr/>
        </p:nvSpPr>
        <p:spPr>
          <a:xfrm>
            <a:off x="486505" y="1542089"/>
            <a:ext cx="10405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US" sz="16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Social </a:t>
            </a:r>
          </a:p>
          <a:p>
            <a:pPr algn="ctr"/>
            <a:r>
              <a:rPr lang="en-US" sz="16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Benefits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956022-A20F-35CB-99D3-315C0153AEDE}"/>
              </a:ext>
            </a:extLst>
          </p:cNvPr>
          <p:cNvSpPr txBox="1"/>
          <p:nvPr/>
        </p:nvSpPr>
        <p:spPr>
          <a:xfrm>
            <a:off x="1951127" y="1542089"/>
            <a:ext cx="118902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Economic </a:t>
            </a:r>
          </a:p>
          <a:p>
            <a:pPr algn="ctr"/>
            <a:r>
              <a:rPr lang="en-US" sz="16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Benefits</a:t>
            </a:r>
            <a:endParaRPr lang="en-US" sz="1600">
              <a:solidFill>
                <a:schemeClr val="bg1"/>
              </a:solidFill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50F5A0-E9CA-C825-B6EA-7275CBC7BF32}"/>
              </a:ext>
            </a:extLst>
          </p:cNvPr>
          <p:cNvSpPr txBox="1"/>
          <p:nvPr/>
        </p:nvSpPr>
        <p:spPr>
          <a:xfrm>
            <a:off x="3524608" y="1542088"/>
            <a:ext cx="115933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Education</a:t>
            </a:r>
            <a:endParaRPr lang="en-US" sz="1600">
              <a:solidFill>
                <a:schemeClr val="bg1"/>
              </a:solidFill>
              <a:cs typeface="Calibri"/>
            </a:endParaRPr>
          </a:p>
          <a:p>
            <a:pPr algn="ctr"/>
            <a:r>
              <a:rPr lang="en-US" sz="16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Benefits</a:t>
            </a:r>
            <a:endParaRPr lang="en-US" sz="1600">
              <a:solidFill>
                <a:schemeClr val="bg1"/>
              </a:solidFill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F9D626-306B-C816-A536-6AED84CA3762}"/>
              </a:ext>
            </a:extLst>
          </p:cNvPr>
          <p:cNvSpPr txBox="1"/>
          <p:nvPr/>
        </p:nvSpPr>
        <p:spPr>
          <a:xfrm>
            <a:off x="4850686" y="1542089"/>
            <a:ext cx="16046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Calibri"/>
                <a:ea typeface="ＭＳ Ｐゴシック"/>
                <a:cs typeface="Calibri"/>
              </a:rPr>
              <a:t>Technological</a:t>
            </a:r>
            <a:endParaRPr lang="en-US" sz="1600">
              <a:cs typeface="Calibri"/>
            </a:endParaRPr>
          </a:p>
          <a:p>
            <a:pPr algn="ctr"/>
            <a:r>
              <a:rPr lang="en-US" sz="1600">
                <a:latin typeface="Calibri"/>
                <a:ea typeface="ＭＳ Ｐゴシック"/>
                <a:cs typeface="Calibri"/>
              </a:rPr>
              <a:t>Benefits</a:t>
            </a:r>
            <a:endParaRPr lang="en-US" sz="1600"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45815F-16D5-F4A4-EB0F-959E7E5608D3}"/>
              </a:ext>
            </a:extLst>
          </p:cNvPr>
          <p:cNvSpPr txBox="1"/>
          <p:nvPr/>
        </p:nvSpPr>
        <p:spPr>
          <a:xfrm>
            <a:off x="324315" y="3500278"/>
            <a:ext cx="1373836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When a college helps its students, it gets a better reputation for caring in the society. </a:t>
            </a:r>
            <a:endParaRPr lang="en-US" sz="130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29" name="Picture 28" descr="A group of people standing around a light bulb&#10;&#10;AI-generated content may be incorrect.">
            <a:extLst>
              <a:ext uri="{FF2B5EF4-FFF2-40B4-BE49-F238E27FC236}">
                <a16:creationId xmlns:a16="http://schemas.microsoft.com/office/drawing/2014/main" id="{4145F324-6523-D325-5621-1DA4BF5C7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89" y="2294230"/>
            <a:ext cx="1129062" cy="1110478"/>
          </a:xfrm>
          <a:prstGeom prst="rect">
            <a:avLst/>
          </a:prstGeom>
        </p:spPr>
      </p:pic>
      <p:pic>
        <p:nvPicPr>
          <p:cNvPr id="31" name="Picture 30" descr="A black and white image of a money bag&#10;&#10;AI-generated content may be incorrect.">
            <a:extLst>
              <a:ext uri="{FF2B5EF4-FFF2-40B4-BE49-F238E27FC236}">
                <a16:creationId xmlns:a16="http://schemas.microsoft.com/office/drawing/2014/main" id="{BC5F3847-7FEC-0FC9-A428-57755F61F25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9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2812" y="2995025"/>
            <a:ext cx="1348673" cy="820914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32" name="Picture 31" descr="A person in a graduation gown&#10;&#10;AI-generated content may be incorrect.">
            <a:extLst>
              <a:ext uri="{FF2B5EF4-FFF2-40B4-BE49-F238E27FC236}">
                <a16:creationId xmlns:a16="http://schemas.microsoft.com/office/drawing/2014/main" id="{2114654F-5239-D0C8-A8E1-F8C864F4F8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211" y="3568878"/>
            <a:ext cx="1084323" cy="1121952"/>
          </a:xfrm>
          <a:prstGeom prst="rect">
            <a:avLst/>
          </a:prstGeom>
          <a:effectLst>
            <a:outerShdw blurRad="50800" dist="38100" dir="2700000">
              <a:srgbClr val="000000">
                <a:alpha val="5000"/>
              </a:srgbClr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36DAE44-2B4E-CF84-6194-E8E84F78A1C6}"/>
              </a:ext>
            </a:extLst>
          </p:cNvPr>
          <p:cNvSpPr txBox="1"/>
          <p:nvPr/>
        </p:nvSpPr>
        <p:spPr>
          <a:xfrm>
            <a:off x="1952038" y="3570110"/>
            <a:ext cx="1171221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Low cost solution</a:t>
            </a:r>
            <a:endParaRPr lang="en-US" sz="1300">
              <a:solidFill>
                <a:schemeClr val="bg1"/>
              </a:solidFill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E47A1F-1DED-4AFB-D20B-3E12CCDAEC96}"/>
              </a:ext>
            </a:extLst>
          </p:cNvPr>
          <p:cNvSpPr txBox="1"/>
          <p:nvPr/>
        </p:nvSpPr>
        <p:spPr>
          <a:xfrm>
            <a:off x="2328333" y="4557889"/>
            <a:ext cx="1100667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Better jobs after graduation</a:t>
            </a:r>
            <a:endParaRPr lang="en-US" sz="1300">
              <a:solidFill>
                <a:schemeClr val="bg1"/>
              </a:solidFill>
              <a:cs typeface="Calibri"/>
            </a:endParaRPr>
          </a:p>
        </p:txBody>
      </p:sp>
      <p:pic>
        <p:nvPicPr>
          <p:cNvPr id="35" name="Picture 34" descr="A graph with a curved line&#10;&#10;AI-generated content may be incorrect.">
            <a:extLst>
              <a:ext uri="{FF2B5EF4-FFF2-40B4-BE49-F238E27FC236}">
                <a16:creationId xmlns:a16="http://schemas.microsoft.com/office/drawing/2014/main" id="{BE63FE7F-1B17-8C16-8736-1B755995E6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19000"/>
                    </a14:imgEffect>
                    <a14:imgEffect>
                      <a14:brightnessContrast bright="100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5533" y="2336507"/>
            <a:ext cx="1113603" cy="651581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37" name="Picture 36" descr="A head with gears in it&#10;&#10;AI-generated content may be incorrect.">
            <a:extLst>
              <a:ext uri="{FF2B5EF4-FFF2-40B4-BE49-F238E27FC236}">
                <a16:creationId xmlns:a16="http://schemas.microsoft.com/office/drawing/2014/main" id="{6DE7701C-05E3-C7F4-7F3C-3352FA2A9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1135" y="2505841"/>
            <a:ext cx="877359" cy="971432"/>
          </a:xfrm>
          <a:prstGeom prst="rect">
            <a:avLst/>
          </a:prstGeom>
          <a:effectLst>
            <a:outerShdw blurRad="50800" dist="38100" dir="2700000">
              <a:srgbClr val="000000">
                <a:alpha val="16000"/>
              </a:srgb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6F672DE-64C0-C029-7FF5-3E186D876FF8}"/>
              </a:ext>
            </a:extLst>
          </p:cNvPr>
          <p:cNvSpPr txBox="1"/>
          <p:nvPr/>
        </p:nvSpPr>
        <p:spPr>
          <a:xfrm>
            <a:off x="3523074" y="4148665"/>
            <a:ext cx="95014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300">
                <a:solidFill>
                  <a:schemeClr val="tx2">
                    <a:lumMod val="76000"/>
                  </a:schemeClr>
                </a:solidFill>
                <a:latin typeface="Calibri"/>
                <a:ea typeface="ＭＳ Ｐゴシック"/>
                <a:cs typeface="Calibri"/>
              </a:rPr>
              <a:t>Resources</a:t>
            </a:r>
            <a:endParaRPr lang="en-US" sz="1300">
              <a:solidFill>
                <a:schemeClr val="tx2">
                  <a:lumMod val="76000"/>
                </a:schemeClr>
              </a:solidFill>
              <a:cs typeface="Calibri"/>
            </a:endParaRPr>
          </a:p>
        </p:txBody>
      </p:sp>
      <p:pic>
        <p:nvPicPr>
          <p:cNvPr id="40" name="Picture 39" descr="A computer and books on a black background&#10;&#10;AI-generated content may be incorrect.">
            <a:extLst>
              <a:ext uri="{FF2B5EF4-FFF2-40B4-BE49-F238E27FC236}">
                <a16:creationId xmlns:a16="http://schemas.microsoft.com/office/drawing/2014/main" id="{FE1373C8-D2A4-13CE-52E4-B236EB447D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rcRect l="-3996" t="21782" r="-3101" b="19233"/>
          <a:stretch>
            <a:fillRect/>
          </a:stretch>
        </p:blipFill>
        <p:spPr>
          <a:xfrm>
            <a:off x="3170572" y="3283358"/>
            <a:ext cx="1473596" cy="856007"/>
          </a:xfrm>
          <a:prstGeom prst="rect">
            <a:avLst/>
          </a:prstGeom>
          <a:effectLst>
            <a:outerShdw blurRad="50800" dist="38100" dir="2700000">
              <a:srgbClr val="000000">
                <a:alpha val="26000"/>
              </a:srgb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9C0DB00-AAC6-2404-3DBC-D70917891A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2986" y="2492359"/>
            <a:ext cx="938461" cy="899181"/>
          </a:xfrm>
          <a:prstGeom prst="rect">
            <a:avLst/>
          </a:prstGeom>
        </p:spPr>
      </p:pic>
      <p:pic>
        <p:nvPicPr>
          <p:cNvPr id="42" name="Picture 41" descr="A cell phone screen with blue squares&#10;&#10;AI-generated content may be incorrect.">
            <a:extLst>
              <a:ext uri="{FF2B5EF4-FFF2-40B4-BE49-F238E27FC236}">
                <a16:creationId xmlns:a16="http://schemas.microsoft.com/office/drawing/2014/main" id="{09FA59FF-08C8-F3AD-070E-C57E5F7158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83565" y="2508070"/>
            <a:ext cx="883470" cy="914892"/>
          </a:xfrm>
          <a:prstGeom prst="rect">
            <a:avLst/>
          </a:prstGeom>
          <a:effectLst>
            <a:outerShdw blurRad="50800" dist="38100" dir="7680000">
              <a:srgbClr val="000000">
                <a:alpha val="17000"/>
              </a:srgbClr>
            </a:outerShdw>
          </a:effec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699D089-38DC-8E79-2C5B-9E7984973415}"/>
              </a:ext>
            </a:extLst>
          </p:cNvPr>
          <p:cNvSpPr txBox="1"/>
          <p:nvPr/>
        </p:nvSpPr>
        <p:spPr>
          <a:xfrm>
            <a:off x="4974331" y="3426279"/>
            <a:ext cx="1049093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latin typeface="Calibri"/>
                <a:ea typeface="ＭＳ Ｐゴシック"/>
                <a:cs typeface="Calibri"/>
              </a:rPr>
              <a:t>Personalized and fast help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7434" y="1486356"/>
            <a:ext cx="2413428" cy="457768"/>
          </a:xfrm>
        </p:spPr>
        <p:txBody>
          <a:bodyPr/>
          <a:lstStyle/>
          <a:p>
            <a:pPr algn="l" eaLnBrk="1" hangingPunct="1">
              <a:buFont typeface="Wingdings" pitchFamily="2" charset="2"/>
              <a:buChar char="v"/>
            </a:pPr>
            <a:r>
              <a:rPr lang="en-US" sz="2250" b="1" u="sng">
                <a:latin typeface="Times New Roman"/>
                <a:ea typeface="ＭＳ Ｐゴシック"/>
                <a:cs typeface="Times New Roman"/>
              </a:rPr>
              <a:t>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773" y="2149745"/>
            <a:ext cx="11176427" cy="19697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latin typeface="+mj-lt"/>
                <a:ea typeface="ＭＳ Ｐゴシック"/>
              </a:rPr>
              <a:t> Lattie, E. G., Kornfield, R., Ringland, K. E., Zhang, R., Winquist, N., &amp; Reddy, M. (2020). Proceedings of the 2020 CHI conference on human factors in computing systems, 1-15.</a:t>
            </a:r>
            <a:endParaRPr lang="en-IN">
              <a:ea typeface="ＭＳ Ｐゴシック"/>
              <a:cs typeface="Calibri"/>
            </a:endParaRPr>
          </a:p>
          <a:p>
            <a:endParaRPr lang="en-IN" sz="900" b="1">
              <a:latin typeface="+mj-lt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>
                <a:latin typeface="+mj-lt"/>
                <a:ea typeface="ＭＳ Ｐゴシック"/>
              </a:rPr>
              <a:t>Google. BERT-base-uncased. Hugging Face. Retrieved from</a:t>
            </a:r>
            <a:r>
              <a:rPr lang="en-IN" b="1">
                <a:latin typeface="+mj-lt"/>
                <a:ea typeface="ＭＳ Ｐゴシック"/>
              </a:rPr>
              <a:t>  </a:t>
            </a:r>
            <a:r>
              <a:rPr lang="en-US" sz="1600">
                <a:latin typeface="Calibri"/>
                <a:ea typeface="ＭＳ Ｐゴシック"/>
                <a:cs typeface="Calibri"/>
                <a:hlinkClick r:id="rId3" tooltip="https://huggingface.co/google-bert/bert-base-uncased​"/>
              </a:rPr>
              <a:t>https://huggingface.co/google-bert/bert-base-uncased​</a:t>
            </a:r>
            <a:endParaRPr lang="en-US" sz="1600">
              <a:latin typeface="Calibri"/>
              <a:ea typeface="ＭＳ Ｐゴシック"/>
              <a:cs typeface="Calibri"/>
            </a:endParaRPr>
          </a:p>
          <a:p>
            <a:pPr>
              <a:buFont typeface="Arial" pitchFamily="34" charset="0"/>
              <a:buChar char="•"/>
            </a:pPr>
            <a:endParaRPr lang="en-US" sz="60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err="1">
                <a:latin typeface="Calibri"/>
                <a:ea typeface="ＭＳ Ｐゴシック"/>
                <a:cs typeface="Calibri"/>
              </a:rPr>
              <a:t>ali</a:t>
            </a:r>
            <a:r>
              <a:rPr lang="en-IN" sz="1700" b="1">
                <a:latin typeface="Calibri"/>
                <a:ea typeface="ＭＳ Ｐゴシック"/>
                <a:cs typeface="Calibri"/>
              </a:rPr>
              <a:t>, E. (2023). Sentiment Analysis for Mental Health . Kaggle. Retrieved from</a:t>
            </a:r>
            <a:r>
              <a:rPr lang="en-IN" sz="1600" b="1">
                <a:latin typeface="Calibri"/>
                <a:ea typeface="ＭＳ Ｐゴシック"/>
                <a:cs typeface="Calibri"/>
              </a:rPr>
              <a:t> </a:t>
            </a:r>
            <a:r>
              <a:rPr lang="en-US" sz="1600">
                <a:latin typeface="Calibri"/>
                <a:ea typeface="ＭＳ Ｐゴシック"/>
                <a:cs typeface="Calibri"/>
                <a:hlinkClick r:id="rId4"/>
              </a:rPr>
              <a:t>https://www.kaggle.com/datasets/engsaiedali/sentiment-analysis-for-mental-health​</a:t>
            </a:r>
            <a:endParaRPr lang="en-US" sz="160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>
                <a:latin typeface="Calibri"/>
                <a:ea typeface="ＭＳ Ｐゴシック"/>
                <a:cs typeface="Calibri"/>
              </a:rPr>
              <a:t>Canvas [Icons and images used in the project]. Retrieved from </a:t>
            </a:r>
            <a:r>
              <a:rPr lang="en-US" sz="1600" b="1">
                <a:latin typeface="ＭＳ Ｐゴシック"/>
                <a:ea typeface="ＭＳ Ｐゴシック"/>
                <a:cs typeface="Calibri"/>
                <a:hlinkClick r:id="rId5"/>
              </a:rPr>
              <a:t>https://www.canva.com/en_in/</a:t>
            </a:r>
            <a:endParaRPr lang="en-US" sz="1600">
              <a:latin typeface="Calibri"/>
              <a:ea typeface="ＭＳ Ｐゴシック"/>
              <a:cs typeface="Calibr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EC4CC8D-9530-8441-9DEA-A2B9DBFAEF4A}"/>
              </a:ext>
            </a:extLst>
          </p:cNvPr>
          <p:cNvCxnSpPr/>
          <p:nvPr/>
        </p:nvCxnSpPr>
        <p:spPr>
          <a:xfrm>
            <a:off x="655562" y="5656942"/>
            <a:ext cx="2716590" cy="7258"/>
          </a:xfrm>
          <a:prstGeom prst="straightConnector1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88EA50-FEC1-680F-4A60-3103FD009070}"/>
              </a:ext>
            </a:extLst>
          </p:cNvPr>
          <p:cNvCxnSpPr>
            <a:cxnSpLocks/>
          </p:cNvCxnSpPr>
          <p:nvPr/>
        </p:nvCxnSpPr>
        <p:spPr>
          <a:xfrm>
            <a:off x="4731656" y="5656941"/>
            <a:ext cx="2716590" cy="7258"/>
          </a:xfrm>
          <a:prstGeom prst="straightConnector1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E0C584-F6FA-1794-614E-9AEC2EB8FD51}"/>
              </a:ext>
            </a:extLst>
          </p:cNvPr>
          <p:cNvCxnSpPr>
            <a:cxnSpLocks/>
          </p:cNvCxnSpPr>
          <p:nvPr/>
        </p:nvCxnSpPr>
        <p:spPr>
          <a:xfrm>
            <a:off x="8868227" y="5656940"/>
            <a:ext cx="2716590" cy="7258"/>
          </a:xfrm>
          <a:prstGeom prst="straightConnector1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BF5F90B8-350B-2AB7-4F18-36E00BFA7EFE}"/>
              </a:ext>
            </a:extLst>
          </p:cNvPr>
          <p:cNvSpPr/>
          <p:nvPr/>
        </p:nvSpPr>
        <p:spPr>
          <a:xfrm>
            <a:off x="3701294" y="5376485"/>
            <a:ext cx="442686" cy="442686"/>
          </a:xfrm>
          <a:prstGeom prst="star5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12670A2A-1892-ED05-9BB2-491B45855741}"/>
              </a:ext>
            </a:extLst>
          </p:cNvPr>
          <p:cNvSpPr/>
          <p:nvPr/>
        </p:nvSpPr>
        <p:spPr>
          <a:xfrm>
            <a:off x="8007198" y="5376484"/>
            <a:ext cx="442686" cy="442686"/>
          </a:xfrm>
          <a:prstGeom prst="star5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691</Words>
  <Application>Microsoft Office PowerPoint</Application>
  <PresentationFormat>Widescreen</PresentationFormat>
  <Paragraphs>89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Aptos</vt:lpstr>
      <vt:lpstr>Arial</vt:lpstr>
      <vt:lpstr>Calibri</vt:lpstr>
      <vt:lpstr>Calibri Light</vt:lpstr>
      <vt:lpstr>Times New Roman</vt:lpstr>
      <vt:lpstr>TradeGothic</vt:lpstr>
      <vt:lpstr>Wingdings</vt:lpstr>
      <vt:lpstr>Office Theme</vt:lpstr>
      <vt:lpstr>Mindsprint 2k25</vt:lpstr>
      <vt:lpstr>Mindsprint 2k25</vt:lpstr>
      <vt:lpstr>A . P . I . D.</vt:lpstr>
      <vt:lpstr>TECHNICAL  APPROACH</vt:lpstr>
      <vt:lpstr>PowerPoint Presentation</vt:lpstr>
      <vt:lpstr>IMPACT AND BENEFITS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Lohith</dc:creator>
  <cp:lastModifiedBy>Sriram Lohith</cp:lastModifiedBy>
  <cp:revision>1</cp:revision>
  <dcterms:created xsi:type="dcterms:W3CDTF">2025-12-11T16:44:49Z</dcterms:created>
  <dcterms:modified xsi:type="dcterms:W3CDTF">2025-12-11T16:46:52Z</dcterms:modified>
</cp:coreProperties>
</file>